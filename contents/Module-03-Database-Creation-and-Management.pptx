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804672"/>
            <a:ext cx="2011680" cy="475488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MODULE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Database Creation
&amp;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4612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1A366"/>
                </a:solidFill>
                <a:latin typeface="Calibri"/>
              </a:rPr>
              <a:t>Learn how SQL Server stores data in files, how to create databases using
both SSMS and T-SQL, and how to manage size and growth settings.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4663440"/>
            <a:ext cx="3154680" cy="530352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4727448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MDF · NDF · LDF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9080" y="4663440"/>
            <a:ext cx="3154680" cy="5303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69080" y="4727448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SSMS &amp; T-SQL Creation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35240" y="4663440"/>
            <a:ext cx="3154680" cy="53035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40" y="4727448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Filegroups &amp; Properties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03: Database Creation &amp; Management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D1B3E"/>
                </a:solidFill>
                <a:latin typeface="Calibri"/>
              </a:rPr>
              <a:t>What You Will Learn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8A93A6"/>
                </a:solidFill>
                <a:latin typeface="Calibri"/>
              </a:rPr>
              <a:t>By the end of Module 03 you will be able to: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45920"/>
            <a:ext cx="347472" cy="347472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70432" y="1572768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D1B3E"/>
                </a:solidFill>
                <a:latin typeface="Calibri"/>
              </a:rPr>
              <a:t>Explain the role of MDF, NDF, and LDF files in a SQL Server database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505456"/>
            <a:ext cx="347472" cy="34747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" y="2432304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D1B3E"/>
                </a:solidFill>
                <a:latin typeface="Calibri"/>
              </a:rPr>
              <a:t>Create a database using the SSMS GUI with defined file sizes and growth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364992"/>
            <a:ext cx="347472" cy="347472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3291840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D1B3E"/>
                </a:solidFill>
                <a:latin typeface="Calibri"/>
              </a:rPr>
              <a:t>Create a database using T-SQL CREATE DATABASE with explicit file options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224528"/>
            <a:ext cx="347472" cy="34747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4151376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D1B3E"/>
                </a:solidFill>
                <a:latin typeface="Calibri"/>
              </a:rPr>
              <a:t>Describe how filegroups organize data files and why they are useful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084064"/>
            <a:ext cx="347472" cy="347472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5010912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D1B3E"/>
                </a:solidFill>
                <a:latin typeface="Calibri"/>
              </a:rPr>
              <a:t>Modify database properties including auto-growth, compatibility level, and recovery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03: Database Creation &amp; Management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D1B3E"/>
                </a:solidFill>
                <a:latin typeface="Calibri"/>
              </a:rPr>
              <a:t>Database File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960120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8A93A6"/>
                </a:solidFill>
                <a:latin typeface="Calibri"/>
              </a:rPr>
              <a:t>Every user database contains at least two files — one for data, one for the transaction log.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572768"/>
            <a:ext cx="3611880" cy="43434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719072"/>
            <a:ext cx="3611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.MDF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267712"/>
            <a:ext cx="3611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Primary Data File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2633472"/>
            <a:ext cx="3246120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16352"/>
            <a:ext cx="3246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Contains all schema objects: tables, indexes,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74720"/>
            <a:ext cx="3246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Every database has exactly one MDF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133088"/>
            <a:ext cx="3246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Stores internal system catalog alongside user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791456"/>
            <a:ext cx="3246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Location: typically on a fast data drive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1572768"/>
            <a:ext cx="3611880" cy="43434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0248" y="1719072"/>
            <a:ext cx="3611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.NDF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0248" y="2267712"/>
            <a:ext cx="3611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Secondary Data File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53128" y="2633472"/>
            <a:ext cx="3246120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98848" y="2816352"/>
            <a:ext cx="3246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Optional — used to span data across multiple drives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98848" y="3474720"/>
            <a:ext cx="3246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Assigned to filegroups (not PRIMARY by default)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98848" y="4133088"/>
            <a:ext cx="3246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Useful for very large databases or I/O distribution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98848" y="4791456"/>
            <a:ext cx="3246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One or more NDF files per database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29016" y="1572768"/>
            <a:ext cx="3611880" cy="4343400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9016" y="1719072"/>
            <a:ext cx="3611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.LDF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9016" y="2267712"/>
            <a:ext cx="3611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Transaction Log File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11896" y="2633472"/>
            <a:ext cx="3246120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57616" y="2816352"/>
            <a:ext cx="3246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Records every transaction for rollback and recovery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57616" y="3474720"/>
            <a:ext cx="3246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NEVER on the same drive as .MDF (I/O contention)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57616" y="4133088"/>
            <a:ext cx="3246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Size depends on recovery model and backup frequency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57616" y="4791456"/>
            <a:ext cx="3246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Grows when not truncated by log backup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03: Database Creation &amp; Management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D1B3E"/>
                </a:solidFill>
                <a:latin typeface="Calibri"/>
              </a:rPr>
              <a:t>Creating a Database via SSMS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960120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8A93A6"/>
                </a:solidFill>
                <a:latin typeface="Calibri"/>
              </a:rPr>
              <a:t>Right-click → New Database is the fastest way; set size and growth before clicking OK.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572768"/>
            <a:ext cx="457200" cy="80467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773936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572768"/>
            <a:ext cx="512064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64592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3E"/>
                </a:solidFill>
                <a:latin typeface="Calibri"/>
              </a:rPr>
              <a:t>Object Explorer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956816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3A6"/>
                </a:solidFill>
                <a:latin typeface="Calibri"/>
              </a:rPr>
              <a:t>Expand the instance → right-click Databases → New Database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572768"/>
            <a:ext cx="457200" cy="80467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45352" y="1773936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02552" y="1572768"/>
            <a:ext cx="512064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39712" y="164592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3E"/>
                </a:solidFill>
                <a:latin typeface="Calibri"/>
              </a:rPr>
              <a:t>Database 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9712" y="1956816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3A6"/>
                </a:solidFill>
                <a:latin typeface="Calibri"/>
              </a:rPr>
              <a:t>Enter the database name (e.g., TrainingDB) — no spaces recommended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651760"/>
            <a:ext cx="457200" cy="804672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285292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2651760"/>
            <a:ext cx="512064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2724912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3E"/>
                </a:solidFill>
                <a:latin typeface="Calibri"/>
              </a:rPr>
              <a:t>Files 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035808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3A6"/>
                </a:solidFill>
                <a:latin typeface="Calibri"/>
              </a:rPr>
              <a:t>Review the data file and log file entries — set initial size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5352" y="2651760"/>
            <a:ext cx="457200" cy="804672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45352" y="285292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02552" y="2651760"/>
            <a:ext cx="512064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39712" y="2724912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3E"/>
                </a:solidFill>
                <a:latin typeface="Calibri"/>
              </a:rPr>
              <a:t>Initial Size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9712" y="3035808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3A6"/>
                </a:solidFill>
                <a:latin typeface="Calibri"/>
              </a:rPr>
              <a:t>Data: start at 256 MB+; Log: 128 MB+ — avoid frequent auto-growth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3730752"/>
            <a:ext cx="457200" cy="80467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39319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" y="3730752"/>
            <a:ext cx="512064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3803904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3E"/>
                </a:solidFill>
                <a:latin typeface="Calibri"/>
              </a:rPr>
              <a:t>Auto-Growth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411480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3A6"/>
                </a:solidFill>
                <a:latin typeface="Calibri"/>
              </a:rPr>
              <a:t>Set data growth to 128 MB (not percent); log to 64 MB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45352" y="3730752"/>
            <a:ext cx="457200" cy="80467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45352" y="39319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02552" y="3730752"/>
            <a:ext cx="512064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39712" y="3803904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3E"/>
                </a:solidFill>
                <a:latin typeface="Calibri"/>
              </a:rPr>
              <a:t>File Path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411480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3A6"/>
                </a:solidFill>
                <a:latin typeface="Calibri"/>
              </a:rPr>
              <a:t>Verify the file paths point to your data and log drives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809744"/>
            <a:ext cx="457200" cy="80467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501091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8680" y="4809744"/>
            <a:ext cx="512064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4882896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3E"/>
                </a:solidFill>
                <a:latin typeface="Calibri"/>
              </a:rPr>
              <a:t>Options Page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5193792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3A6"/>
                </a:solidFill>
                <a:latin typeface="Calibri"/>
              </a:rPr>
              <a:t>Set Recovery Model (Simple for training), Compatibility Level 150+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45352" y="4809744"/>
            <a:ext cx="457200" cy="804672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45352" y="501091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02552" y="4809744"/>
            <a:ext cx="512064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39712" y="4882896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1B3E"/>
                </a:solidFill>
                <a:latin typeface="Calibri"/>
              </a:rPr>
              <a:t>OK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5193792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3A6"/>
                </a:solidFill>
                <a:latin typeface="Calibri"/>
              </a:rPr>
              <a:t>Click OK — database appears in Object Explorer immediately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03: Database Creation &amp; Management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D1B3E"/>
                </a:solidFill>
                <a:latin typeface="Calibri"/>
              </a:rPr>
              <a:t>Creating a Database via T-SQL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960120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8A93A6"/>
                </a:solidFill>
                <a:latin typeface="Calibri"/>
              </a:rPr>
              <a:t>T-SQL gives you full control over file placement, size, and growth — and is scriptable and repeatable.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81328"/>
            <a:ext cx="5989320" cy="4572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591056"/>
            <a:ext cx="5660136" cy="435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A8D8FF"/>
                </a:solidFill>
                <a:latin typeface="Consolas"/>
              </a:rPr>
              <a:t>CREATE DATABASE TrainingDB
ON PRIMARY
(
    NAME = TrainingDB_data,
    FILENAME = 'D:\SQLData\TrainingDB.mdf',
    SIZE = 256MB,
    MAXSIZE = UNLIMITED,
    FILEGROWTH = 128MB
)
LOG ON
(
    NAME = TrainingDB_log,
    FILENAME = 'E:\SQLLogs\TrainingDB.ldf',
    SIZE = 128MB,
    MAXSIZE = 2048MB,
    FILEGROWTH = 64MB
);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1481328"/>
            <a:ext cx="347472" cy="53035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0" y="151790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  <a:latin typeface="Calibri"/>
              </a:rPr>
              <a:t>ON PRIMARY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1773936"/>
            <a:ext cx="4434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Assigns data file to the PRIMARY filegroup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60" y="2194560"/>
            <a:ext cx="347472" cy="5303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0" y="223113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  <a:latin typeface="Calibri"/>
              </a:rPr>
              <a:t>NAME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487168"/>
            <a:ext cx="4434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Logical name used by SQL Server internally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66560" y="2907792"/>
            <a:ext cx="347472" cy="530352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0" y="294436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  <a:latin typeface="Calibri"/>
              </a:rPr>
              <a:t>FILENAME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3200400"/>
            <a:ext cx="4434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Physical path on disk — use separate drives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0" y="3621024"/>
            <a:ext cx="347472" cy="530352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365760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  <a:latin typeface="Calibri"/>
              </a:rPr>
              <a:t>SIZE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3913632"/>
            <a:ext cx="4434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Initial allocated size — set this generously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60" y="4334256"/>
            <a:ext cx="347472" cy="53035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0" y="437083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  <a:latin typeface="Calibri"/>
              </a:rPr>
              <a:t>FILEGROWTH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4626864"/>
            <a:ext cx="4434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Use MB not % — predictable and auditable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5047488"/>
            <a:ext cx="347472" cy="53035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0" y="508406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3E"/>
                </a:solidFill>
                <a:latin typeface="Calibri"/>
              </a:rPr>
              <a:t>LOG 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5340096"/>
            <a:ext cx="4434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93A6"/>
                </a:solidFill>
                <a:latin typeface="Calibri"/>
              </a:rPr>
              <a:t>Separate clause required for the .ldf file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1722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A93A6"/>
                </a:solidFill>
                <a:latin typeface="Calibri"/>
              </a:rPr>
              <a:t>Tip: run USE TrainingDB; GO after creation to confirm the database is accessible.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03: Database Creation &amp; Management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D1B3E"/>
                </a:solidFill>
                <a:latin typeface="Calibri"/>
              </a:rPr>
              <a:t>Filegroups &amp; Database Properties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960120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8A93A6"/>
                </a:solidFill>
                <a:latin typeface="Calibri"/>
              </a:rPr>
              <a:t>Filegroups are logical containers for data files. Key properties control behaviour and recoverability.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481328"/>
            <a:ext cx="5440680" cy="43891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27632"/>
            <a:ext cx="5440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FILEGROUPS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12140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PRIMARY is the default filegroup — contains system objects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62432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Create additional filegroups to separate user tables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12724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Assign data files (.mdf / .ndf) to a filegroup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63016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Set a filegroup as DEFAULT to redirect new objects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413308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Example: separate OLTP tables from archive tables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463600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· Useful for partial database restores and availability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481328"/>
            <a:ext cx="5605272" cy="4389120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1627632"/>
            <a:ext cx="56052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KEY DATABASE PROPERTIES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12140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Recovery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32520" y="2121408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5D8F0"/>
                </a:solidFill>
                <a:latin typeface="Calibri"/>
              </a:rPr>
              <a:t>SIMPLE (no log backups) / FULL / BULK_LOGGED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68833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Compatibility Level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2520" y="2688336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5D8F0"/>
                </a:solidFill>
                <a:latin typeface="Calibri"/>
              </a:rPr>
              <a:t>Controls which T-SQL features are available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25526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Auto Shrink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3255264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5D8F0"/>
                </a:solidFill>
                <a:latin typeface="Calibri"/>
              </a:rPr>
              <a:t>DISABLE — causes severe fragmentation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382219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Auto Close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32520" y="3822192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5D8F0"/>
                </a:solidFill>
                <a:latin typeface="Calibri"/>
              </a:rPr>
              <a:t>DISABLE — forces re-open on every connection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438912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Auto Create Statistics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32520" y="4389120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5D8F0"/>
                </a:solidFill>
                <a:latin typeface="Calibri"/>
              </a:rPr>
              <a:t>ON — let SQL Server manage query stats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495604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Page Verify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4956048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5D8F0"/>
                </a:solidFill>
                <a:latin typeface="Calibri"/>
              </a:rPr>
              <a:t>CHECKSUM — detects disk-level corruption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03: Database Creation &amp; Management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1828800" cy="457200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LAB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984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Create, Modify &amp; Delete Databases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385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93A6"/>
                </a:solidFill>
                <a:latin typeface="Calibri"/>
              </a:rPr>
              <a:t>Duration: ~45 min  ·  Tools: SSMS + T-SQL  ·  No external dependencies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395728"/>
            <a:ext cx="7040880" cy="3730752"/>
          </a:xfrm>
          <a:prstGeom prst="rect">
            <a:avLst/>
          </a:prstGeom>
          <a:solidFill>
            <a:srgbClr val="0A1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87168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1A366"/>
                </a:solidFill>
                <a:latin typeface="Calibri"/>
              </a:rPr>
              <a:t>STEPS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52928"/>
            <a:ext cx="292608" cy="292608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871216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834640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In SSMS: right-click Databases → New Database → create 'LabDB_GUI'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64408"/>
            <a:ext cx="292608" cy="292608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82696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246120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Set initial data file size to 64 MB, log to 32 MB, growth to 16 MB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675888"/>
            <a:ext cx="292608" cy="292608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694176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657600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Open New Query → run CREATE DATABASE LabDB_TSQL with explicit file paths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087368"/>
            <a:ext cx="292608" cy="292608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105656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069080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Expand both new databases — confirm they appear in Object Explorer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498848"/>
            <a:ext cx="292608" cy="292608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517136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4480560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Right-click LabDB_GUI → Properties → Options → change Recovery Model to Simple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910328"/>
            <a:ext cx="292608" cy="292608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928616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4892040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Run: ALTER DATABASE LabDB_TSQL MODIFY FILE (NAME=..., SIZE=128MB)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321808"/>
            <a:ext cx="292608" cy="292608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340096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303520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Verify with: SELECT name, size*8/1024 AS SizeMB FROM sys.master_files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733288"/>
            <a:ext cx="292608" cy="292608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751576"/>
            <a:ext cx="292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5715000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Right-click LabDB_GUI → Delete → confirm removal. Verify it disappears.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18120" y="2395728"/>
            <a:ext cx="3913632" cy="3730752"/>
          </a:xfrm>
          <a:prstGeom prst="rect">
            <a:avLst/>
          </a:prstGeom>
          <a:solidFill>
            <a:srgbClr val="0A1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01000" y="2487168"/>
            <a:ext cx="3547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1A366"/>
                </a:solidFill>
                <a:latin typeface="Calibri"/>
              </a:rPr>
              <a:t>VALIDATION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2852928"/>
            <a:ext cx="35478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✓  Both databases visible in Object Explorer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3493008"/>
            <a:ext cx="35478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✓  sys.master_files shows correct sizes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4133088"/>
            <a:ext cx="35478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✓  Recovery model updated in Properties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1000" y="4773168"/>
            <a:ext cx="35478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✓  ALTER DATABASE changes file size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01000" y="5413248"/>
            <a:ext cx="35478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✓  Deleted DB no longer appears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1722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A93A6"/>
                </a:solidFill>
                <a:latin typeface="Calibri"/>
              </a:rPr>
              <a:t>Clean up: DELETE LabDB_TSQL after confirming all steps.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03: Database Creation &amp; Management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47472"/>
            <a:ext cx="12188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D1B3E"/>
                </a:solidFill>
                <a:latin typeface="Calibri"/>
              </a:rPr>
              <a:t>Module 03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960120"/>
            <a:ext cx="12188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8A93A6"/>
                </a:solidFill>
                <a:latin typeface="Calibri"/>
              </a:rPr>
              <a:t>You can now create, configure, and manage SQL Server databases in both SSMS and T-SQL.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572768"/>
            <a:ext cx="5440680" cy="1353312"/>
          </a:xfrm>
          <a:prstGeom prst="rect">
            <a:avLst/>
          </a:prstGeom>
          <a:solidFill>
            <a:srgbClr val="21A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82496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Files are physical, databases are logical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075688"/>
            <a:ext cx="5074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MDF + LDF minimum. NDF for multi-drive expansion. Always separate drives.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5352" y="1572768"/>
            <a:ext cx="5440680" cy="135331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2" y="1682496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T-SQL gives full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2" y="2075688"/>
            <a:ext cx="5074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CREATE DATABASE with explicit SIZE and FILEGROWTH is repeatable and auditable.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145536"/>
            <a:ext cx="5440680" cy="1353312"/>
          </a:xfrm>
          <a:prstGeom prst="rect">
            <a:avLst/>
          </a:prstGeom>
          <a:solidFill>
            <a:srgbClr val="E85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255264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Set growth in MB, not percent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648456"/>
            <a:ext cx="5074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Percentage-based growth causes unpredictable size spikes under load.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5352" y="3145536"/>
            <a:ext cx="5440680" cy="1353312"/>
          </a:xfrm>
          <a:prstGeom prst="rect">
            <a:avLst/>
          </a:prstGeom>
          <a:solidFill>
            <a:srgbClr val="2E6E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3255264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Recovery Model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3648456"/>
            <a:ext cx="5074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SIMPLE: no log backup needed. FULL: log backups required to prevent log growth.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63240" y="5102352"/>
            <a:ext cx="5440680" cy="135331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46120" y="5212080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Next: Module 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5605272"/>
            <a:ext cx="5074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Tables &amp; Data Management — schema design, data types, constraints, and CRUD.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7395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3A6"/>
                </a:solidFill>
                <a:latin typeface="Calibri"/>
              </a:rPr>
              <a:t>Module 03: Database Creation &amp; Management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5912" y="64739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A93A6"/>
                </a:solidFill>
                <a:latin typeface="Calibri"/>
              </a:rP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