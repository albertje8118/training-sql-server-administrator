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2011680" cy="47548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MODULE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Tables &amp;
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501A"/>
                </a:solidFill>
                <a:latin typeface="Calibri"/>
              </a:rPr>
              <a:t>Design tables with the right data types, enforce data integrity with constraints,
and write INSERT, UPDATE, DELETE, and SELECT statements.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63440"/>
            <a:ext cx="3154680" cy="5303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Data Types &amp;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4663440"/>
            <a:ext cx="3154680" cy="5303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Constraints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4663440"/>
            <a:ext cx="3154680" cy="53035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4727448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CRUD &amp; 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3A6"/>
                </a:solidFill>
                <a:latin typeface="Calibri"/>
              </a:rPr>
              <a:t>By the end of Module 04 you will be able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57276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Choose appropriate SQL Server data types for common column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05456"/>
            <a:ext cx="347472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43230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Create tables with primary keys, foreign keys, unique, and NOT NULL 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64992"/>
            <a:ext cx="347472" cy="34747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29184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Insert, update, and delete rows using T-SQL DML statements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24528"/>
            <a:ext cx="347472" cy="34747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5137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Write SELECT queries with WHERE, ORDER BY, and basic JOINs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84064"/>
            <a:ext cx="347472" cy="34747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01091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1B3E"/>
                </a:solidFill>
                <a:latin typeface="Calibri"/>
              </a:rPr>
              <a:t>Verify data integrity by testing constraint violations at the T-SQL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Table Design &amp;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Choosing the right data type prevents wasted space and prevents invalid data from entering the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5440680" cy="19385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7276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INTEGERS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842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Standard whole number — most common PK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BIGINT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Large integers (e.g., row counters over 2 billion)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SMALLINT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791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2-byte integer — use when range 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266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TINYINT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26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0–255 only — status codes,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81328"/>
            <a:ext cx="5440680" cy="19385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7276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NVARCHAR(n)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98424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Unicode variable-length — default for most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VARCHAR(n)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33172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Non-Unicode — slightly smaller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79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NCHAR(n)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7919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Fixed-length Unicode — codes, padded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NVARCHAR(MAX)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02666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Up to 2 GB — avoid in index columns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30168"/>
            <a:ext cx="5440680" cy="1938528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2160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NUMERIC &amp;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DECIMAL(p,s)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13308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Exact precision — use for money, measurements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FLOAT /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480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Approximate — only for scientific calculations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8280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8280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Date only — no time component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1755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DATETIME2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175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High-precision datetime — preferred over DATETIME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30168"/>
            <a:ext cx="5440680" cy="193852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72160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33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13308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Boolean: 0, 1, or NULL — flags and toggles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UNIQUEIDENTIFIER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48056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GUID — distributed/replicated PKs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280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VARBINARY(n)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8280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Binary data: files, hashes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755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XML / 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517550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8F0"/>
                </a:solidFill>
                <a:latin typeface="Calibri"/>
              </a:rPr>
              <a:t>Store structured data — query with XQuery/JSON_VALUE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3E"/>
                </a:solidFill>
                <a:latin typeface="Calibri"/>
              </a:rPr>
              <a:t>Constraints: Enforcing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Constraints prevent invalid data from entering the database — they are the first line of defence.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5440680" cy="19933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PRIMARY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Uniquely identifies each row. Only one per table.
Automatically creates a clustered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0749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FF"/>
                </a:solidFill>
                <a:latin typeface="Calibri"/>
              </a:rPr>
              <a:t>CONSTRAINT PK_Employee PRIMARY KEY (EmployeeID)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481328"/>
            <a:ext cx="5440680" cy="19933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7276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FOREIGN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3852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Enforces referential integrity between tables.
Prevents orphan rows in child tables.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8232" y="2468880"/>
            <a:ext cx="50749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54203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FF"/>
                </a:solidFill>
                <a:latin typeface="Calibri"/>
              </a:rPr>
              <a:t>CONSTRAINT FK_Emp_Dept FOREIGN KEY (DeptID)
  REFERENCES Department(DeptID)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75888"/>
            <a:ext cx="5440680" cy="199339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673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3308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Enforces uniqueness on one or more columns.
Allows NULLs (unlike PRIMARY KEY).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663440"/>
            <a:ext cx="50749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365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FF"/>
                </a:solidFill>
                <a:latin typeface="Calibri"/>
              </a:rPr>
              <a:t>CONSTRAINT UQ_Email UNIQUE (Email)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3675888"/>
            <a:ext cx="5440680" cy="199339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767328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NOT NULL /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13308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NOT NULL: column must have a value.
CHECK: column must satisfy an expression.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4663440"/>
            <a:ext cx="5074920" cy="8046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7365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FF"/>
                </a:solidFill>
                <a:latin typeface="Calibri"/>
              </a:rPr>
              <a:t>Salary DECIMAL(10,2) NOT NULL
  CHECK (Salary &gt;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INSERT &amp; UPDATE — Adding and Changing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0241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5715000" cy="3794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99616"/>
            <a:ext cx="5385816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Insert a single row
INSERT INTO Employee (FirstName, LastName, DeptID, Salary)
VALUES ('Alice', 'Smith', 3, 75000.00);
-- Insert multiple rows
INSERT INTO Employee (FirstName, LastName, DeptID, Salary)
VALUES ('Bob',   'Jones', 2, 62000.00),
       ('Carol', 'Lee',   3, 80000.00);
-- Insert from another table
INSERT INTO EmployeeArchive
SELECT * FROM Employee WHERE ResignDate &lt; '2024-01-01';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89888"/>
            <a:ext cx="5486400" cy="3794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99616"/>
            <a:ext cx="5157216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Update a single column
UPDATE Employee
SET    Salary = Salary * 1.05
WHERE  DeptID = 3;
-- Update multiple columns
UPDATE Employee
SET    DeptID = 4,
       Salary = 90000.00
WHERE  EmployeeID = 7;
-- Always verify with SELECT first!
SELECT * FROM Employee WHERE DeptID = 3;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85232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Tip: always run SELECT before UPDATE/DELETE to confirm target rows. Wrap in BEGIN TRAN / ROLLBACK during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3E"/>
                </a:solidFill>
                <a:latin typeface="Calibri"/>
              </a:rPr>
              <a:t>DELETE &amp; SELECT — Removing and Querying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DELETE without WHERE deletes ALL rows. TRUNCATE is faster but non-transactional.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71500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27048"/>
            <a:ext cx="5385816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Delete specific rows
DELETE FROM Employee
WHERE  ResignDate &lt; '2023-01-01';
-- Delete all rows (keep structure)
TRUNCATE TABLE EmployeeLog;
-- Safe pattern: preview first
BEGIN TRAN;
  DELETE FROM Employee WHERE DeptID = 99;
  SELECT @@ROWCOUNT;  -- check count
ROLLBACK;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17320"/>
            <a:ext cx="548640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527048"/>
            <a:ext cx="5157216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8D8FF"/>
                </a:solidFill>
                <a:latin typeface="Consolas"/>
              </a:rPr>
              <a:t>-- Basic SELECT with filter
SELECT EmployeeID, FirstName, Salary
FROM   Employee
WHERE  Salary &gt; 70000
ORDER  BY Salary DESC;
-- JOIN two tables
SELECT e.FirstName, d.DeptName
FROM   Employee   e
JOIN   Department d ON e.DeptID = d.DeptID
WHERE  d.DeptName = 'Engineering';
-- Aggregate
SELECT DeptID, AVG(Salary) AS AvgSalary
FROM   Employee
GROUP  BY DeptID;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DELETE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789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3E"/>
                </a:solidFill>
                <a:latin typeface="Calibri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166360"/>
            <a:ext cx="11384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3A6"/>
                </a:solidFill>
                <a:latin typeface="Calibri"/>
              </a:rPr>
              <a:t>Key clauses: WHERE (filter) · ORDER BY (sort) · JOIN (combine) · GROUP BY (aggregate) · TOP (limit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457200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Create Tables, Apply Constraints &amp; Run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6"/>
                </a:solidFill>
                <a:latin typeface="Calibri"/>
              </a:rPr>
              <a:t>Duration: ~60 min  ·  Tool: SSMS  ·  Uses: LabDB_TSQL from Module 03 (or recreate)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7040880" cy="3730752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01A"/>
                </a:solidFill>
                <a:latin typeface="Calibri"/>
              </a:rPr>
              <a:t>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529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 LabDB_TSQL — create the Department table (DeptID PK, DeptName NVARCHAR(100) NOT NULL)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28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918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Create the Employee table with PK, FK to Department, Salary DECIMAL(10,2) CHECK &gt;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73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85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490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INSERT 3 departments and 5 employees via T-SQL VALUES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245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428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062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SELECT * FROM Employee ORDER BY Salary DESC — verify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817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00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634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UPDATE: give all employees in DeptID=1 a 10% salary raise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389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57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206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Try inserting an employee with a non-existent DeptID — confirm FK error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961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14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778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DELETE one employee — verify with SELECT COUNT(*)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053328"/>
            <a:ext cx="292608" cy="292608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071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6035040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SELECT with JOIN to show employee name + department 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395728"/>
            <a:ext cx="3913632" cy="3730752"/>
          </a:xfrm>
          <a:prstGeom prst="rect">
            <a:avLst/>
          </a:prstGeom>
          <a:solidFill>
            <a:srgbClr val="1A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248716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501A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285292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Tables created with correct constraints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49300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INSERT succeeds for valid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13308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FK violation raises an error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77316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UPDATE changes correct rows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413248"/>
            <a:ext cx="3547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JOIN query returns combined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6"/>
                </a:solidFill>
                <a:latin typeface="Calibri"/>
              </a:rPr>
              <a:t>Clean up: tables remain for use in Module 05 security testing.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47472"/>
            <a:ext cx="12188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1B3E"/>
                </a:solidFill>
                <a:latin typeface="Calibri"/>
              </a:rPr>
              <a:t>Module 04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A93A6"/>
                </a:solidFill>
                <a:latin typeface="Calibri"/>
              </a:rPr>
              <a:t>You can now build and populate a working relational schema with correct data integrity.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5440680" cy="1353312"/>
          </a:xfrm>
          <a:prstGeom prst="rect">
            <a:avLst/>
          </a:prstGeom>
          <a:solidFill>
            <a:srgbClr val="E8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Data types prevent bad data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 NVARCHAR for text, DECIMAL for money, DATETIME2 for dates. Avoid FLOAT for financials.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572768"/>
            <a:ext cx="5440680" cy="13533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682496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Constraints = first line of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7568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PK ensures uniqueness. FK enforces relationships. CHECK validates ranges. NOT NULL ensures presence.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45536"/>
            <a:ext cx="5440680" cy="1353312"/>
          </a:xfrm>
          <a:prstGeom prst="rect">
            <a:avLst/>
          </a:prstGeom>
          <a:solidFill>
            <a:srgbClr val="21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DML is always transactional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Wrap risky DELETE or UPDATE in BEGIN TRAN ... ROLLBACK during development.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145536"/>
            <a:ext cx="5440680" cy="1353312"/>
          </a:xfrm>
          <a:prstGeom prst="rect">
            <a:avLst/>
          </a:prstGeom>
          <a:solidFill>
            <a:srgbClr val="2E6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5526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is the verification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4845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SELECT before and after every DML to confirm the right rows changed.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5102352"/>
            <a:ext cx="5440680" cy="13533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521208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Next: Module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605272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Security &amp; User Management — logins, users, server roles, and database roles.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Calibri"/>
              </a:rPr>
              <a:t>Module 04: Tables &amp; Data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6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