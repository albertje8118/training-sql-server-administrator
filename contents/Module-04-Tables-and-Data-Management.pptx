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804672"/>
            <a:ext cx="2011680" cy="475488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MODULE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11155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Tables &amp;
Data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4612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8501A"/>
                </a:solidFill>
                <a:latin typeface="Calibri"/>
              </a:rPr>
              <a:t>Design tables with the right data types, enforce data integrity with constraints,
and write INSERT, UPDATE, DELETE, and SELECT statements.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4663440"/>
            <a:ext cx="3154680" cy="53035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4727448"/>
            <a:ext cx="3154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Data Types &amp; Design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9080" y="4663440"/>
            <a:ext cx="3154680" cy="530352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69080" y="4727448"/>
            <a:ext cx="3154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Constraints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35240" y="4663440"/>
            <a:ext cx="3154680" cy="530352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35240" y="4727448"/>
            <a:ext cx="3154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CRUD &amp; SELECT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04: Tables &amp; Data Management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1 /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47472"/>
            <a:ext cx="121889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D1B3E"/>
                </a:solidFill>
                <a:latin typeface="Calibri"/>
              </a:rPr>
              <a:t>What You Will Learn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8A93A6"/>
                </a:solidFill>
                <a:latin typeface="Calibri"/>
              </a:rPr>
              <a:t>By the end of Module 04 you will be able to: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45920"/>
            <a:ext cx="347472" cy="347472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70432" y="1572768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D1B3E"/>
                </a:solidFill>
                <a:latin typeface="Calibri"/>
              </a:rPr>
              <a:t>Choose appropriate SQL Server data types for common column requirements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505456"/>
            <a:ext cx="347472" cy="34747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" y="2432304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D1B3E"/>
                </a:solidFill>
                <a:latin typeface="Calibri"/>
              </a:rPr>
              <a:t>Create tables with primary keys, foreign keys, unique, and NOT NULL constraints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364992"/>
            <a:ext cx="347472" cy="347472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3291840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D1B3E"/>
                </a:solidFill>
                <a:latin typeface="Calibri"/>
              </a:rPr>
              <a:t>Insert, update, and delete rows using T-SQL DML statements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224528"/>
            <a:ext cx="347472" cy="347472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4151376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D1B3E"/>
                </a:solidFill>
                <a:latin typeface="Calibri"/>
              </a:rPr>
              <a:t>Write SELECT queries with WHERE, ORDER BY, and basic JOINs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084064"/>
            <a:ext cx="347472" cy="347472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5010912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D1B3E"/>
                </a:solidFill>
                <a:latin typeface="Calibri"/>
              </a:rPr>
              <a:t>Verify data integrity by testing constraint violations at the T-SQL prompt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04: Tables &amp; Data Management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47472"/>
            <a:ext cx="121889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D1B3E"/>
                </a:solidFill>
                <a:latin typeface="Calibri"/>
              </a:rPr>
              <a:t>Table Design &amp; Data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960120"/>
            <a:ext cx="12188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8A93A6"/>
                </a:solidFill>
                <a:latin typeface="Calibri"/>
              </a:rPr>
              <a:t>Choosing the right data type prevents wasted space and prevents invalid data from entering the system.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481328"/>
            <a:ext cx="5440680" cy="193852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572768"/>
            <a:ext cx="5440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INTEGERS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842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1984248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5D8F0"/>
                </a:solidFill>
                <a:latin typeface="Calibri"/>
              </a:rPr>
              <a:t>Standard whole number — most common PK 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33172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BIGINT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2331720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5D8F0"/>
                </a:solidFill>
                <a:latin typeface="Calibri"/>
              </a:rPr>
              <a:t>Large integers (e.g., row counters over 2 billion)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67919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SMALLINT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2679192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5D8F0"/>
                </a:solidFill>
                <a:latin typeface="Calibri"/>
              </a:rPr>
              <a:t>2-byte integer — use when range fits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02666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TINYINT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3026664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5D8F0"/>
                </a:solidFill>
                <a:latin typeface="Calibri"/>
              </a:rPr>
              <a:t>0–255 only — status codes, flags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481328"/>
            <a:ext cx="5440680" cy="193852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572768"/>
            <a:ext cx="5440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9842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NVARCHAR(n)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1984248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5D8F0"/>
                </a:solidFill>
                <a:latin typeface="Calibri"/>
              </a:rPr>
              <a:t>Unicode variable-length — default for most text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33172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VARCHAR(n)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2331720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5D8F0"/>
                </a:solidFill>
                <a:latin typeface="Calibri"/>
              </a:rPr>
              <a:t>Non-Unicode — slightly smaller storage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67919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NCHAR(n)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0" y="2679192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5D8F0"/>
                </a:solidFill>
                <a:latin typeface="Calibri"/>
              </a:rPr>
              <a:t>Fixed-length Unicode — codes, padded fields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02666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NVARCHAR(MAX)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0" y="3026664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5D8F0"/>
                </a:solidFill>
                <a:latin typeface="Calibri"/>
              </a:rPr>
              <a:t>Up to 2 GB — avoid in index columns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3630168"/>
            <a:ext cx="5440680" cy="1938528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3721608"/>
            <a:ext cx="5440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NUMERIC &amp; 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413308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DECIMAL(p,s)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94560" y="4133088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5D8F0"/>
                </a:solidFill>
                <a:latin typeface="Calibri"/>
              </a:rPr>
              <a:t>Exact precision — use for money, measurements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44805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FLOAT / REAL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94560" y="4480560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5D8F0"/>
                </a:solidFill>
                <a:latin typeface="Calibri"/>
              </a:rPr>
              <a:t>Approximate — only for scientific calculations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482803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94560" y="4828032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5D8F0"/>
                </a:solidFill>
                <a:latin typeface="Calibri"/>
              </a:rPr>
              <a:t>Date only — no time component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17550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DATETIME2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94560" y="5175504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5D8F0"/>
                </a:solidFill>
                <a:latin typeface="Calibri"/>
              </a:rPr>
              <a:t>High-precision datetime — preferred over DATETIME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0" y="3630168"/>
            <a:ext cx="5440680" cy="1938528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17920" y="3721608"/>
            <a:ext cx="5440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OTHER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413308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BIT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01000" y="4133088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5D8F0"/>
                </a:solidFill>
                <a:latin typeface="Calibri"/>
              </a:rPr>
              <a:t>Boolean: 0, 1, or NULL — flags and toggles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4805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UNIQUEIDENTIFIER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1000" y="4480560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5D8F0"/>
                </a:solidFill>
                <a:latin typeface="Calibri"/>
              </a:rPr>
              <a:t>GUID — distributed/replicated PKs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482803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VARBINARY(n)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01000" y="4828032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5D8F0"/>
                </a:solidFill>
                <a:latin typeface="Calibri"/>
              </a:rPr>
              <a:t>Binary data: files, hashes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17550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XML / JSON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01000" y="5175504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5D8F0"/>
                </a:solidFill>
                <a:latin typeface="Calibri"/>
              </a:rPr>
              <a:t>Store structured data — query with XQuery/JSON_VALUE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04: Tables &amp; Data Management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47472"/>
            <a:ext cx="121889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0D1B3E"/>
                </a:solidFill>
                <a:latin typeface="Calibri"/>
              </a:rPr>
              <a:t>Constraints: Enforcing Data Integrity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960120"/>
            <a:ext cx="12188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8A93A6"/>
                </a:solidFill>
                <a:latin typeface="Calibri"/>
              </a:rPr>
              <a:t>Constraints prevent invalid data from entering the database — they are the first line of defence.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481328"/>
            <a:ext cx="5440680" cy="199339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572768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PRIMARY KEY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38528"/>
            <a:ext cx="5074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Uniquely identifies each row. Only one per table.
Automatically creates a clustered index.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2468880"/>
            <a:ext cx="5074920" cy="804672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542032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D8FF"/>
                </a:solidFill>
                <a:latin typeface="Calibri"/>
              </a:rPr>
              <a:t>CONSTRAINT PK_Employee PRIMARY KEY (EmployeeID)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481328"/>
            <a:ext cx="5440680" cy="199339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1572768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FOREIGN KEY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1938528"/>
            <a:ext cx="5074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Enforces referential integrity between tables.
Prevents orphan rows in child tables.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28232" y="2468880"/>
            <a:ext cx="5074920" cy="804672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65392" y="2542032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D8FF"/>
                </a:solidFill>
                <a:latin typeface="Calibri"/>
              </a:rPr>
              <a:t>CONSTRAINT FK_Emp_Dept FOREIGN KEY (DeptID)
  REFERENCES Department(DeptID)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3675888"/>
            <a:ext cx="5440680" cy="1993392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767328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UNIQUE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133088"/>
            <a:ext cx="5074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Enforces uniqueness on one or more columns.
Allows NULLs (unlike PRIMARY KEY).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4663440"/>
            <a:ext cx="5074920" cy="804672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736592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D8FF"/>
                </a:solidFill>
                <a:latin typeface="Calibri"/>
              </a:rPr>
              <a:t>CONSTRAINT UQ_Email UNIQUE (Email)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5352" y="3675888"/>
            <a:ext cx="5440680" cy="1993392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2" y="3767328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NOT NULL / CHECK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8232" y="4133088"/>
            <a:ext cx="5074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NOT NULL: column must have a value.
CHECK: column must satisfy an expression.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28232" y="4663440"/>
            <a:ext cx="5074920" cy="804672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65392" y="4736592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D8FF"/>
                </a:solidFill>
                <a:latin typeface="Calibri"/>
              </a:rPr>
              <a:t>Salary DECIMAL(10,2) NOT NULL
  CHECK (Salary &gt; 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04: Tables &amp; Data Management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47472"/>
            <a:ext cx="121889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0D1B3E"/>
                </a:solidFill>
                <a:latin typeface="Calibri"/>
              </a:rPr>
              <a:t>INSERT &amp; UPDATE — Adding and Changing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024128"/>
            <a:ext cx="5715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3E"/>
                </a:solidFill>
                <a:latin typeface="Calibri"/>
              </a:rPr>
              <a:t>INSERT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02412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3E"/>
                </a:solidFill>
                <a:latin typeface="Calibri"/>
              </a:rPr>
              <a:t>UPDATE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389888"/>
            <a:ext cx="5715000" cy="37947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499616"/>
            <a:ext cx="5385816" cy="3575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A8D8FF"/>
                </a:solidFill>
                <a:latin typeface="Consolas"/>
              </a:rPr>
              <a:t>-- Insert a single row
INSERT INTO Employee (FirstName, LastName, DeptID, Salary)
VALUES ('Alice', 'Smith', 3, 75000.00);
-- Insert multiple rows
INSERT INTO Employee (FirstName, LastName, DeptID, Salary)
VALUES ('Bob',   'Jones', 2, 62000.00),
       ('Carol', 'Lee',   3, 80000.00);
-- Insert from another table
INSERT INTO EmployeeArchive
SELECT * FROM Employee WHERE ResignDate &lt; '2024-01-01';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389888"/>
            <a:ext cx="5486400" cy="37947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1499616"/>
            <a:ext cx="5157216" cy="3575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A8D8FF"/>
                </a:solidFill>
                <a:latin typeface="Consolas"/>
              </a:rPr>
              <a:t>-- Update a single column
UPDATE Employee
SET    Salary = Salary * 1.05
WHERE  DeptID = 3;
-- Update multiple columns
UPDATE Employee
SET    DeptID = 4,
       Salary = 90000.00
WHERE  EmployeeID = 7;
-- Always verify with SELECT first!
SELECT * FROM Employee WHERE DeptID = 3;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285232"/>
            <a:ext cx="11384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A93A6"/>
                </a:solidFill>
                <a:latin typeface="Calibri"/>
              </a:rPr>
              <a:t>Tip: always run SELECT before UPDATE/DELETE to confirm target rows. Wrap in BEGIN TRAN / ROLLBACK during testing.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04: Tables &amp; Data Management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47472"/>
            <a:ext cx="121889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0D1B3E"/>
                </a:solidFill>
                <a:latin typeface="Calibri"/>
              </a:rPr>
              <a:t>DELETE &amp; SELECT — Removing and Querying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960120"/>
            <a:ext cx="12188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8A93A6"/>
                </a:solidFill>
                <a:latin typeface="Calibri"/>
              </a:rPr>
              <a:t>DELETE without WHERE deletes ALL rows. TRUNCATE is faster but non-transactional.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417320"/>
            <a:ext cx="5715000" cy="36576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72" y="1527048"/>
            <a:ext cx="5385816" cy="3438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A8D8FF"/>
                </a:solidFill>
                <a:latin typeface="Consolas"/>
              </a:rPr>
              <a:t>-- Delete specific rows
DELETE FROM Employee
WHERE  ResignDate &lt; '2023-01-01';
-- Delete all rows (keep structure)
TRUNCATE TABLE EmployeeLog;
-- Safe pattern: preview first
BEGIN TRAN;
  DELETE FROM Employee WHERE DeptID = 99;
  SELECT @@ROWCOUNT;  -- check count
ROLLBACK;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417320"/>
            <a:ext cx="5486400" cy="36576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1527048"/>
            <a:ext cx="5157216" cy="3438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A8D8FF"/>
                </a:solidFill>
                <a:latin typeface="Consolas"/>
              </a:rPr>
              <a:t>-- Basic SELECT with filter
SELECT EmployeeID, FirstName, Salary
FROM   Employee
WHERE  Salary &gt; 70000
ORDER  BY Salary DESC;
-- JOIN two tables
SELECT e.FirstName, d.DeptName
FROM   Employee   e
JOIN   Department d ON e.DeptID = d.DeptID
WHERE  d.DeptName = 'Engineering';
-- Aggregate
SELECT DeptID, AVG(Salary) AS AvgSalary
FROM   Employee
GROUP  BY DeptID;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078992"/>
            <a:ext cx="5715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3E"/>
                </a:solidFill>
                <a:latin typeface="Calibri"/>
              </a:rPr>
              <a:t>DELETE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078992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3E"/>
                </a:solidFill>
                <a:latin typeface="Calibri"/>
              </a:rPr>
              <a:t>SELECT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5166360"/>
            <a:ext cx="11384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A93A6"/>
                </a:solidFill>
                <a:latin typeface="Calibri"/>
              </a:rPr>
              <a:t>Key clauses: WHERE (filter) · ORDER BY (sort) · JOIN (combine) · GROUP BY (aggregate) · TOP (limit rows)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04: Tables &amp; Data Management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85800"/>
            <a:ext cx="1828800" cy="457200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LAB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984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Create Tables, Apply Constraints &amp; Run CRUD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385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3A6"/>
                </a:solidFill>
                <a:latin typeface="Calibri"/>
              </a:rPr>
              <a:t>Duration: ~60 min  ·  Tool: SSMS  ·  Uses: LabDB_TSQL from Module 03 (or recreate)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395728"/>
            <a:ext cx="7040880" cy="3730752"/>
          </a:xfrm>
          <a:prstGeom prst="rect">
            <a:avLst/>
          </a:prstGeom>
          <a:solidFill>
            <a:srgbClr val="1A0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487168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501A"/>
                </a:solidFill>
                <a:latin typeface="Calibri"/>
              </a:rPr>
              <a:t>STEPS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52928"/>
            <a:ext cx="292608" cy="292608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871216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834640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USE LabDB_TSQL — create the Department table (DeptID PK, DeptName NVARCHAR(100) NOT NULL)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264408"/>
            <a:ext cx="292608" cy="292608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82696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246120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Create the Employee table with PK, FK to Department, Salary DECIMAL(10,2) CHECK &gt; 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675888"/>
            <a:ext cx="292608" cy="292608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694176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657600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INSERT 3 departments and 5 employees via T-SQL VALUES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087368"/>
            <a:ext cx="292608" cy="292608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105656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069080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Run SELECT * FROM Employee ORDER BY Salary DESC — verify rows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498848"/>
            <a:ext cx="292608" cy="292608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517136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4480560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UPDATE: give all employees in DeptID=1 a 10% salary raise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4910328"/>
            <a:ext cx="292608" cy="292608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928616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4892040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Try inserting an employee with a non-existent DeptID — confirm FK error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5321808"/>
            <a:ext cx="292608" cy="292608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340096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303520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DELETE one employee — verify with SELECT COUNT(*)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733288"/>
            <a:ext cx="292608" cy="292608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751576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" y="5715000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Run SELECT with JOIN to show employee name + department name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18120" y="2395728"/>
            <a:ext cx="3913632" cy="3730752"/>
          </a:xfrm>
          <a:prstGeom prst="rect">
            <a:avLst/>
          </a:prstGeom>
          <a:solidFill>
            <a:srgbClr val="1A0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01000" y="2487168"/>
            <a:ext cx="3547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501A"/>
                </a:solidFill>
                <a:latin typeface="Calibri"/>
              </a:rPr>
              <a:t>VALIDATION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2852928"/>
            <a:ext cx="35478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✓  Tables created with correct constraints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1000" y="3493008"/>
            <a:ext cx="35478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✓  INSERT succeeds for valid rows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1000" y="4133088"/>
            <a:ext cx="35478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✓  FK violation raises an error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01000" y="4773168"/>
            <a:ext cx="35478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✓  UPDATE changes correct rows only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01000" y="5413248"/>
            <a:ext cx="35478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✓  JOIN query returns combined result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1722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A93A6"/>
                </a:solidFill>
                <a:latin typeface="Calibri"/>
              </a:rPr>
              <a:t>Clean up: tables remain for use in Module 05 security testing.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04: Tables &amp; Data Management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47472"/>
            <a:ext cx="121889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D1B3E"/>
                </a:solidFill>
                <a:latin typeface="Calibri"/>
              </a:rPr>
              <a:t>Module 04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960120"/>
            <a:ext cx="12188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8A93A6"/>
                </a:solidFill>
                <a:latin typeface="Calibri"/>
              </a:rPr>
              <a:t>You can now build and populate a working relational schema with correct data integrity.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572768"/>
            <a:ext cx="5440680" cy="1353312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82496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Data types prevent bad data early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075688"/>
            <a:ext cx="5074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Use NVARCHAR for text, DECIMAL for money, DATETIME2 for dates. Avoid FLOAT for financials.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5352" y="1572768"/>
            <a:ext cx="5440680" cy="135331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28232" y="1682496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Constraints = first line of integrity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8232" y="2075688"/>
            <a:ext cx="5074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PK ensures uniqueness. FK enforces relationships. CHECK validates ranges. NOT NULL ensures presence.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3145536"/>
            <a:ext cx="5440680" cy="1353312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255264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DML is always transactional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648456"/>
            <a:ext cx="5074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Wrap risky DELETE or UPDATE in BEGIN TRAN ... ROLLBACK during development.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5352" y="3145536"/>
            <a:ext cx="5440680" cy="1353312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3255264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SELECT is the verification tool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3648456"/>
            <a:ext cx="5074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Run SELECT before and after every DML to confirm the right rows changed.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63240" y="5102352"/>
            <a:ext cx="5440680" cy="135331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46120" y="5212080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Next: Module 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5605272"/>
            <a:ext cx="5074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Security &amp; User Management — logins, users, server roles, and database roles.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04: Tables &amp; Data Management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