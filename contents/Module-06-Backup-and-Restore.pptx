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2011680" cy="47548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MODULE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Backup &amp;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501A"/>
                </a:solidFill>
                <a:latin typeface="Calibri"/>
              </a:rPr>
              <a:t>Protect NovaMart's data with full, differential, and log backups —
and practice restoring before disaster strikes.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526280"/>
            <a:ext cx="3154680" cy="5303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5902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Recovery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4526280"/>
            <a:ext cx="3154680" cy="5303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45902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Backup Types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4526280"/>
            <a:ext cx="3154680" cy="5303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45902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Restore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447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Day 2  ·  Morning  ·  2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06: Backup &amp; Restore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What You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A93A6"/>
                </a:solidFill>
                <a:latin typeface="Calibri"/>
              </a:rPr>
              <a:t>By the end of Module 06 you will be able to: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47472" cy="34747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572768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Explain the difference between Simple and Full recovery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05456"/>
            <a:ext cx="347472" cy="3474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432304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Perform a full database backup using SSMS and T-SQL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64992"/>
            <a:ext cx="347472" cy="34747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291840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Perform a differential backup to capture incremental changes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24528"/>
            <a:ext cx="347472" cy="34747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151376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Back up and restore the transaction log to a point in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84064"/>
            <a:ext cx="347472" cy="34747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5010912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Restore the NovaMart database from a backup file and verify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06: Backup &amp; Restore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Recovery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The recovery model controls how much of the transaction log is retained — and what you can restore.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63040"/>
            <a:ext cx="3639312" cy="4114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72768"/>
            <a:ext cx="3639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21408"/>
            <a:ext cx="32918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Log truncated automatically at each checkpoint.
No log backups possible.
Maximum data loss = changes since last full or diff backup.
Good for: development, test, non-critical databases.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5112" y="1463040"/>
            <a:ext cx="3639312" cy="411480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5112" y="1572768"/>
            <a:ext cx="3639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21408"/>
            <a:ext cx="32918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Full transaction log kept until a log backup is taken.
Point-in-time restore is possible.
Requires regular log backups to prevent log file growth.
Required for: NovaMart production database.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38744" y="1463040"/>
            <a:ext cx="3639312" cy="411480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1572768"/>
            <a:ext cx="3639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BULK-LOGGED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2121408"/>
            <a:ext cx="32918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Minimally logs bulk operations (BULK INSERT, SELECT INTO).
Reduces log growth during large data loads.
Point-in-time restore not available during bulk period.
Typically used as a temporary switch during large imports.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5687568"/>
            <a:ext cx="7315200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5797296"/>
            <a:ext cx="6986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8D8FF"/>
                </a:solidFill>
                <a:latin typeface="Consolas"/>
              </a:rPr>
              <a:t>ALTER DATABASE NovaMart SET RECOVERY FULL;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74243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3A6"/>
                </a:solidFill>
                <a:latin typeface="Calibri"/>
              </a:rPr>
              <a:t>NovaMart should always use FULL recovery.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06: Backup &amp; Restore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Backup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Use a combination of backup types to balance storage cost against recovery time and data loss.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81328"/>
            <a:ext cx="347472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3E"/>
                </a:solidFill>
                <a:latin typeface="Calibri"/>
              </a:rPr>
              <a:t>FULL Backup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56816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6"/>
                </a:solidFill>
                <a:latin typeface="Calibri"/>
              </a:rPr>
              <a:t>Backs up the entire database — data pages + enough log to make it consistent.
Self-contained: can restore from this one file alone.
Typically run: weekly or nightly (small DBs).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054096"/>
            <a:ext cx="347472" cy="13258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272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3E"/>
                </a:solidFill>
                <a:latin typeface="Calibri"/>
              </a:rPr>
              <a:t>DIFFERENTIAL Backup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29584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6"/>
                </a:solidFill>
                <a:latin typeface="Calibri"/>
              </a:rPr>
              <a:t>Backs up all pages changed since the last FULL backup.
Grows larger until the next full backup resets the baseline.
Typically run: nightly or every few hours.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626864"/>
            <a:ext cx="347472" cy="1325880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00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3E"/>
                </a:solidFill>
                <a:latin typeface="Calibri"/>
              </a:rPr>
              <a:t>TRANSACTION LOG Backup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0235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6"/>
                </a:solidFill>
                <a:latin typeface="Calibri"/>
              </a:rPr>
              <a:t>Backs up the active portion of the transaction log.
Enables point-in-time restore (STOPAT).
Truncates the log — required in FULL recovery to control log growth.
Typically run: every 15–60 min in production.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035040"/>
            <a:ext cx="11384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Strategy for NovaMart:  Full (Sunday) → Differential (Mon–Sat) → Log every 30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06: Backup &amp; Restore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3E"/>
                </a:solidFill>
                <a:latin typeface="Calibri"/>
              </a:rPr>
              <a:t>Performing Backups via T-SQL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T-SQL backup commands are scriptable, schedulable, and the foundation for SQL Agent jobs.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989320" cy="5074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499616"/>
            <a:ext cx="566013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8D8FF"/>
                </a:solidFill>
                <a:latin typeface="Consolas"/>
              </a:rPr>
              <a:t>-- Full backup
BACKUP DATABASE NovaMart
TO DISK = 'C:\SQLBackup\NovaMart_Full.bak'
WITH FORMAT, INIT,
     NAME = 'NovaMart Full Backup',
     COMPRESSION, STATS = 10;
-- Differential backup
BACKUP DATABASE NovaMart
TO DISK = 'C:\SQLBackup\NovaMart_Diff.bak'
WITH DIFFERENTIAL, INIT,
     NAME = 'NovaMart Differential Backup',
     COMPRESSION, STATS = 10;
-- Transaction log backup
BACKUP LOG NovaMart
TO DISK = 'C:\SQLBackup\NovaMart_Log.bak'
WITH INIT, NAME = 'NovaMart Log Backup', STATS = 10;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389888"/>
            <a:ext cx="347472" cy="47548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42646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FORMAT, INIT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6642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Overwrite existing backup file. Remove INIT to append.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2039112"/>
            <a:ext cx="347472" cy="4754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0756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COMPRESSION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3134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Reduces backup file size — recommended for speed and storage.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2688336"/>
            <a:ext cx="347472" cy="47548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2724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STATS =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9626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Print progress every 10% — useful for large databases.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3337560"/>
            <a:ext cx="347472" cy="475488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33741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WITH DIFFERENTIAL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611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Captures only pages changed since the last full backup.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3986784"/>
            <a:ext cx="347472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023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BACKUP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2611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Only valid when recovery model is FULL or BULK-LOGGED.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4636008"/>
            <a:ext cx="347472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46725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Backup to 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9103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Replace disk path with \\server\share\file.bak for UNC paths.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5285232"/>
            <a:ext cx="347472" cy="47548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53218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VERIFY after backup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5595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RESTORE VERIFYONLY FROM DISK = '...' — check integrity.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06: Backup &amp; Restore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3E"/>
                </a:solidFill>
                <a:latin typeface="Calibri"/>
              </a:rPr>
              <a:t>Restoring a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A backup is worthless unless you have practised the restore. Always test your backups.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989320" cy="5074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499616"/>
            <a:ext cx="566013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8D8FF"/>
                </a:solidFill>
                <a:latin typeface="Consolas"/>
              </a:rPr>
              <a:t>-- Step 1: Restore the full backup (WITH NORECOVERY keeps DB in restoring state)
RESTORE DATABASE NovaMart
FROM DISK = 'C:\SQLBackup\NovaMart_Full.bak'
WITH NORECOVERY, STATS = 10;
-- Step 2: Apply differential backup
RESTORE DATABASE NovaMart
FROM DISK = 'C:\SQLBackup\NovaMart_Diff.bak'
WITH NORECOVERY, STATS = 10;
-- Step 3: Apply log backup — bring online
RESTORE LOG NovaMart
FROM DISK = 'C:\SQLBackup\NovaMart_Log.bak'
WITH RECOVERY;
-- Optional: restore to a point in time
-- WITH RECOVERY, STOPAT = '2026-05-08T09:30:00';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389888"/>
            <a:ext cx="347472" cy="475488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42646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NORECOVERY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6642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Leaves DB in restoring state — required when more backups follow.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2039112"/>
            <a:ext cx="347472" cy="47548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0756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3134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Brings database online — use only on the FINAL restore step.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2688336"/>
            <a:ext cx="347472" cy="4754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2724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STOPAT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9626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Point-in-time recovery — only available with FULL recovery model.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3337560"/>
            <a:ext cx="347472" cy="47548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33741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REPLACE option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611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Add WITH REPLACE to overwrite an existing database by same name.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3986784"/>
            <a:ext cx="347472" cy="475488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023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MOVE option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2611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WITH MOVE 'NovaMart' TO '...mdf', MOVE 'NovaMart_log' TO '...ldf'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4636008"/>
            <a:ext cx="347472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46725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Tail-log backup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9103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Before restoring a live DB, back up the tail of the active log first.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5285232"/>
            <a:ext cx="347472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53218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Verify before restore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5595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RESTORE HEADERONLY FROM DISK='...' to see backup sets on file.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06: Backup &amp; Restore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828800" cy="45720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LAB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NovaMart Disaster Recovery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385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6"/>
                </a:solidFill>
                <a:latin typeface="Calibri"/>
              </a:rPr>
              <a:t>Duration: ~60 min  ·  Tool: SSMS  ·  Database: NovaMart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95728"/>
            <a:ext cx="7040880" cy="4069080"/>
          </a:xfrm>
          <a:prstGeom prst="rect">
            <a:avLst/>
          </a:prstGeom>
          <a:solidFill>
            <a:srgbClr val="0A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501A"/>
                </a:solidFill>
                <a:latin typeface="Calibri"/>
              </a:rPr>
              <a:t>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52928"/>
            <a:ext cx="38404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71216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834640"/>
            <a:ext cx="6153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Confirm NovaMart is in FULL recovery: SELECT name, recovery_model_desc FROM sys.databases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38404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182112"/>
            <a:ext cx="6153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Create backup folder: C:\SQLBackup (or verify it exists)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47872"/>
            <a:ext cx="38404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529584"/>
            <a:ext cx="6153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Run full backup T-SQL to NovaMart_Full.bak — note completion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95344"/>
            <a:ext cx="38404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13632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877056"/>
            <a:ext cx="6153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Insert a test row: INSERT INTO Employee VALUES (...) — note the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42816"/>
            <a:ext cx="38404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611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224528"/>
            <a:ext cx="6153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Run differential backup to NovaMart_Diff.bak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590288"/>
            <a:ext cx="38404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608576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572000"/>
            <a:ext cx="6153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Insert another test row — note 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937760"/>
            <a:ext cx="38404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956048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919472"/>
            <a:ext cx="6153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Run log backup to NovaMart_Log.bak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285232"/>
            <a:ext cx="38404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303520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5266944"/>
            <a:ext cx="6153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Simulate disaster: DROP TABLE Employee — confirm table gone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632704"/>
            <a:ext cx="38404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650992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5614416"/>
            <a:ext cx="6153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Restore full → differential → log WITH RECOVERY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980176"/>
            <a:ext cx="38404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9984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" y="5961888"/>
            <a:ext cx="6153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Verify Employee table and all rows are back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18120" y="2395728"/>
            <a:ext cx="3913632" cy="4069080"/>
          </a:xfrm>
          <a:prstGeom prst="rect">
            <a:avLst/>
          </a:prstGeom>
          <a:solidFill>
            <a:srgbClr val="0A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2487168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A366"/>
                </a:solidFill>
                <a:latin typeface="Calibri"/>
              </a:rPr>
              <a:t>VALIDATION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2852928"/>
            <a:ext cx="3547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Backup files created in C:\SQLBackup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3538728"/>
            <a:ext cx="3547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DROP TABLE removes Employee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4224528"/>
            <a:ext cx="3547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Restore completes without error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4910328"/>
            <a:ext cx="3547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Employee table exists after restore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5596128"/>
            <a:ext cx="3547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All rows present including inserted rows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06: Backup &amp; Restore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1148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Day 2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78992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E8501A"/>
                </a:solidFill>
                <a:latin typeface="Calibri"/>
              </a:rPr>
              <a:t>Module 06 complete — NovaMart data is now protected.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5440680" cy="11704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M06 ✓ Backup &amp; Restore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67128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Full, Diff, Log backups · Recovery models · Disaster recovery sim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691640"/>
            <a:ext cx="5440680" cy="117043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78308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M07  Database 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67128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Index rebuild/reorganize · Statistics · DBCC CHECKDB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081528"/>
            <a:ext cx="5440680" cy="1170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17296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M08  SQL Server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57016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Jobs, schedules, alerts · Automate nightly backup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3081528"/>
            <a:ext cx="5440680" cy="117043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17296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M09  Monitoring &amp; Perf.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557016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Activity Monitor · DMVs · Blocking &amp; deadlocks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471416"/>
            <a:ext cx="5440680" cy="1170432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56285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M10  Troubleshooting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946904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Connection errors · Error logs · Performance bottlenecks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4471416"/>
            <a:ext cx="5440680" cy="1170432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456285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M11  Import /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946904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Wizard · CSV/Excel · BCP · ETL concepts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40080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A93A6"/>
                </a:solidFill>
                <a:latin typeface="Calibri"/>
              </a:rPr>
              <a:t>Next up: Module 07 — Database Maintenance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06: Backup &amp; Restore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