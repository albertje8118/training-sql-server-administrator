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804672"/>
            <a:ext cx="2011680" cy="47548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MODULE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SQL Server Agent
&amp; Automation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461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007ACC"/>
                </a:solidFill>
                <a:latin typeface="Calibri"/>
              </a:rPr>
              <a:t>Stop doing maintenance by hand — let SQL Server Agent
run backups, index jobs, and alerts while you sleep.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4526280"/>
            <a:ext cx="3154680" cy="53035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4590288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SQL Agent Overview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9080" y="4526280"/>
            <a:ext cx="3154680" cy="530352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69080" y="4590288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Jobs &amp; Steps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35240" y="4526280"/>
            <a:ext cx="3154680" cy="53035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40" y="4590288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Schedules &amp; Alerts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4476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3A6"/>
                </a:solidFill>
                <a:latin typeface="Calibri"/>
              </a:rPr>
              <a:t>Day 2  ·  Morning  ·  1.5 hours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08: SQL Server Agent &amp; Automation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1 /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D1B3E"/>
                </a:solidFill>
                <a:latin typeface="Calibri"/>
              </a:rPr>
              <a:t>What You Will Learn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8A93A6"/>
                </a:solidFill>
                <a:latin typeface="Calibri"/>
              </a:rPr>
              <a:t>By the end of Module 08 you will be able to: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45920"/>
            <a:ext cx="347472" cy="34747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70432" y="1572768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Describe what SQL Server Agent is and list its components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505456"/>
            <a:ext cx="347472" cy="34747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" y="2432304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Create a multi-step Agent job using the SSMS GUI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364992"/>
            <a:ext cx="347472" cy="347472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3291840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Attach a recurring schedule to a job (nightly, weekly)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224528"/>
            <a:ext cx="347472" cy="34747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4151376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Configure an operator and alert to receive failure notifications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084064"/>
            <a:ext cx="347472" cy="34747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5010912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View job history and diagnose a failed job 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08: SQL Server Agent &amp; Automation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D1B3E"/>
                </a:solidFill>
                <a:latin typeface="Calibri"/>
              </a:rPr>
              <a:t>SQL Server Agent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960120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8A93A6"/>
                </a:solidFill>
                <a:latin typeface="Calibri"/>
              </a:rPr>
              <a:t>SQL Server Agent is a Windows service that runs scheduled T-SQL, SSIS packages, and operating system commands.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481328"/>
            <a:ext cx="3520440" cy="19659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4632" y="1572768"/>
            <a:ext cx="3182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JOB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" y="1956816"/>
            <a:ext cx="3182112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A named automation task.
Contains one or more steps.
Can be run on demand or by schedule.
Stored in msdb..sysjobs.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481328"/>
            <a:ext cx="3520440" cy="196596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98264" y="1572768"/>
            <a:ext cx="3182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JOB STEP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98264" y="1956816"/>
            <a:ext cx="3182112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Individual unit of work within a job.
Types: T-SQL, PowerShell, SSIS, OS command.
On failure: stop, go to next step, or go to a specific step.
Has its own success/failure action.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47304" y="1481328"/>
            <a:ext cx="3520440" cy="1965960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1896" y="1572768"/>
            <a:ext cx="3182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SCHEDULE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1896" y="1956816"/>
            <a:ext cx="3182112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Defines WHEN a job runs.
Recurring: daily, weekly, every N minutes.
One schedule can drive multiple jobs.
Stored in msdb..sysschedules.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3721608"/>
            <a:ext cx="3520440" cy="1965960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36192" y="3813048"/>
            <a:ext cx="3182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ALERT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36192" y="4197096"/>
            <a:ext cx="3182112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Triggered by SQL Server error number or
performance condition threshold.
Can execute a job and/or notify operators.
Useful for critical error numbers (823, 824, 825).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85232" y="3721608"/>
            <a:ext cx="3520440" cy="1965960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49824" y="3813048"/>
            <a:ext cx="3182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OPERATOR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9824" y="4197096"/>
            <a:ext cx="3182112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Recipient of alert notifications.
Notification via email (Database Mail).
Requires SQL Server Agent Mail profile.
Multiple operators can receive the same alert.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644652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A93A6"/>
                </a:solidFill>
                <a:latin typeface="Calibri"/>
              </a:rPr>
              <a:t>Prerequisites: SQL Server Agent service must be Running. Check in SQL Server Configuration Manager.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08: SQL Server Agent &amp; Automation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D1B3E"/>
                </a:solidFill>
                <a:latin typeface="Calibri"/>
              </a:rPr>
              <a:t>Creating a Job in SSMS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960120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8A93A6"/>
                </a:solidFill>
                <a:latin typeface="Calibri"/>
              </a:rPr>
              <a:t>Walk-through: create the NovaMart Nightly Backup Job.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481328"/>
            <a:ext cx="347472" cy="12984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  <a:latin typeface="Calibri"/>
              </a:rPr>
              <a:t>1. Open SQL Server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50749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In SSMS Object Explorer → SQL Server Agent → right-click Jobs → New Job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481328"/>
            <a:ext cx="347472" cy="12984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1554480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  <a:latin typeface="Calibri"/>
              </a:rPr>
              <a:t>2. General Tab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920240"/>
            <a:ext cx="50749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Name: 'NovaMart Nightly Backup'  ·  Owner: sa (or a dedicated service account)  ·  Enabled: checked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990088"/>
            <a:ext cx="347472" cy="1298448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63240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  <a:latin typeface="Calibri"/>
              </a:rPr>
              <a:t>3. Steps Tab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29000"/>
            <a:ext cx="50749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Click New → Step Name: 'Full Backup'  ·  Type: T-SQL  ·  Database: master
Command:  BACKUP DATABASE NovaMart TO DISK='C:\SQLBackup\NovaMart_Full.bak' WITH FORMAT,COMPRESSION;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2990088"/>
            <a:ext cx="347472" cy="1298448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20840" y="3063240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  <a:latin typeface="Calibri"/>
              </a:rPr>
              <a:t>4. Steps — Add Log Backup Step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3429000"/>
            <a:ext cx="50749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Click New → 'Log Backup'  ·  T-SQL  ·  Database: master
Command:  BACKUP LOG NovaMart TO DISK='C:\SQLBackup\NovaMart_Log.bak' WITH INIT;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498848"/>
            <a:ext cx="347472" cy="1298448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72000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  <a:latin typeface="Calibri"/>
              </a:rPr>
              <a:t>5. Schedules Tab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937760"/>
            <a:ext cx="50749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Click New → Name: 'Nightly 02:00'  ·  Recurring: Daily  ·  Time: 02:00:00  ·  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4498848"/>
            <a:ext cx="347472" cy="12984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4572000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  <a:latin typeface="Calibri"/>
              </a:rPr>
              <a:t>6. Notifications Tab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4937760"/>
            <a:ext cx="50749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On job failure: email an operator (if Database Mail is configured)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08: SQL Server Agent &amp; Automation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D1B3E"/>
                </a:solidFill>
                <a:latin typeface="Calibri"/>
              </a:rPr>
              <a:t>Schedules, Alerts &amp; Job History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960120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8A93A6"/>
                </a:solidFill>
                <a:latin typeface="Calibri"/>
              </a:rPr>
              <a:t>Once jobs run unattended, you need reliable monitoring to catch failures early.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5349240" cy="2148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536192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7ACC"/>
                </a:solidFill>
                <a:latin typeface="Calibri"/>
              </a:rPr>
              <a:t>SCHEDULE FREQUENCIES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38528"/>
            <a:ext cx="4983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 One time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67712"/>
            <a:ext cx="4983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 Daily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596896"/>
            <a:ext cx="4983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 Weekly (day of week)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26080"/>
            <a:ext cx="4983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 Monthly (day / week of month)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255264"/>
            <a:ext cx="4983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 When SQL Server Agent starts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584448"/>
            <a:ext cx="4983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 When CPU is idle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417320"/>
            <a:ext cx="5577840" cy="2148840"/>
          </a:xfrm>
          <a:prstGeom prst="rect">
            <a:avLst/>
          </a:prstGeom>
          <a:solidFill>
            <a:srgbClr val="051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99632" y="1536192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1A366"/>
                </a:solidFill>
                <a:latin typeface="Calibri"/>
              </a:rPr>
              <a:t>VIEWING JOB HISTORY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1938528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 Right-click Job → View History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267712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 Green check = success  ·  Red X = failure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2512" y="2596896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 Expand failed step to read error message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2512" y="292608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 msdb..sysjobhistory — query history via T-SQL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3255264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 Filter by date range in the Log File Viewer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3639312"/>
            <a:ext cx="11384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B3E"/>
                </a:solidFill>
                <a:latin typeface="Calibri"/>
              </a:rPr>
              <a:t>RUN &amp; QUERY JOBS VIA T-SQL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977639"/>
            <a:ext cx="11384280" cy="25146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4087367"/>
            <a:ext cx="11055096" cy="22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A8D8FF"/>
                </a:solidFill>
                <a:latin typeface="Consolas"/>
              </a:rPr>
              <a:t>-- Run a job immediately
EXEC msdb.dbo.sp_start_job N'NovaMart Nightly Backup';
-- Check job status
SELECT j.name, ja.run_requested_date, ja.stop_execution_date,
       jh.run_status  -- 0=failed 1=success 2=retry 3=cancelled
FROM msdb.dbo.sysjobs j
JOIN msdb.dbo.sysjobactivity ja ON j.job_id = ja.job_id
JOIN msdb.dbo.sysjobhistory jh ON j.job_id = jh.job_id
WHERE j.name = 'NovaMart Nightly Backup';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08: SQL Server Agent &amp; Automation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D1B3E"/>
                </a:solidFill>
                <a:latin typeface="Calibri"/>
              </a:rPr>
              <a:t>Creating a Job via T-SQL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960120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8A93A6"/>
                </a:solidFill>
                <a:latin typeface="Calibri"/>
              </a:rPr>
              <a:t>Scripting jobs allows them to be version-controlled, audited, and deployed to multiple instances.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389888"/>
            <a:ext cx="5989320" cy="50749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72" y="1499616"/>
            <a:ext cx="5660136" cy="4855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A8D8FF"/>
                </a:solidFill>
                <a:latin typeface="Consolas"/>
              </a:rPr>
              <a:t>USE msdb;
GO
-- Create the job
EXEC sp_add_job
  @job_name = N'NovaMart Nightly Backup';
-- Add a T-SQL step
EXEC sp_add_jobstep
  @job_name = N'NovaMart Nightly Backup',
  @step_name = N'Full Backup',
  @subsystem = N'TSQL',
  @command = N'BACKUP DATABASE NovaMart
    TO DISK = ''C:\SQLBackup\NovaMart_Full.bak''
    WITH FORMAT, COMPRESSION, STATS = 10;',
  @database_name = N'master';
-- Add a daily schedule at 02:00
EXEC sp_add_schedule
  @schedule_name = N'Nightly 02:00',
  @freq_type = 4,        -- daily
  @freq_interval = 1,
  @active_start_time = 20000;  -- 02:00:00
-- Attach schedule to job
EXEC sp_attach_schedule
  @job_name = N'NovaMart Nightly Backup',
  @schedule_name = N'Nightly 02:00';
-- Register the job on this server
EXEC sp_add_jobserver
  @job_name = N'NovaMart Nightly Backup';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1389888"/>
            <a:ext cx="347472" cy="475488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0" y="1426464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  <a:latin typeface="Calibri"/>
              </a:rPr>
              <a:t>sp_add_job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166420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Creates the job container in msdb — just name and owner.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60" y="2039112"/>
            <a:ext cx="347472" cy="47548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0" y="207568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  <a:latin typeface="Calibri"/>
              </a:rPr>
              <a:t>sp_add_jobstep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3134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Adds a step; @subsystem = TSQL, SSIS, PowerShell, CmdExec.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0" y="2688336"/>
            <a:ext cx="347472" cy="475488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0" y="272491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  <a:latin typeface="Calibri"/>
              </a:rPr>
              <a:t>sp_add_schedule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96265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@freq_type: 1=once, 4=daily, 8=weekly, 16=monthly.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0" y="3337560"/>
            <a:ext cx="347472" cy="475488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3374136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  <a:latin typeface="Calibri"/>
              </a:rPr>
              <a:t>@active_start_time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361188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Format HHMMSS as integer: 020000 = 02:00:00.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0" y="3986784"/>
            <a:ext cx="347472" cy="4754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0" y="402336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  <a:latin typeface="Calibri"/>
              </a:rPr>
              <a:t>sp_attach_schedule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426110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One schedule can be shared across multiple jobs.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4636008"/>
            <a:ext cx="347472" cy="47548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0" y="4672584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  <a:latin typeface="Calibri"/>
              </a:rPr>
              <a:t>sp_add_jobserver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491032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Required to register job on the local server (@server_name=N'(local)').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66560" y="5285232"/>
            <a:ext cx="347472" cy="475488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0" y="53218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  <a:latin typeface="Calibri"/>
              </a:rPr>
              <a:t>Script existing job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55595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In SSMS: right-click Job → Script Job as → CREATE To → clipboard.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08: SQL Server Agent &amp; Automation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1828800" cy="4572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LAB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984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Automate NovaMart Nightly Maintenance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385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3A6"/>
                </a:solidFill>
                <a:latin typeface="Calibri"/>
              </a:rPr>
              <a:t>Duration: ~45 min  ·  Tool: SSMS  ·  Database: msdb + NovaMart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95728"/>
            <a:ext cx="7040880" cy="3730752"/>
          </a:xfrm>
          <a:prstGeom prst="rect">
            <a:avLst/>
          </a:prstGeom>
          <a:solidFill>
            <a:srgbClr val="0A1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87168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ACC"/>
                </a:solidFill>
                <a:latin typeface="Calibri"/>
              </a:rPr>
              <a:t>STEPS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52928"/>
            <a:ext cx="292608" cy="29260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871216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834640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Open SSMS → confirm SQL Server Agent service is Running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82696"/>
            <a:ext cx="292608" cy="29260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300984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26440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Create a new job: 'NovaMart Nightly Backup' (owner: sa)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712464"/>
            <a:ext cx="292608" cy="29260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730752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694176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Step 1: 'Full Backup' — T-SQL — BACKUP DATABASE NovaMart ... WITH FORMAT, COMPRESSION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142232"/>
            <a:ext cx="292608" cy="29260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160520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123944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Step 2: 'Update Stats' — T-SQL — EXEC sp_updatestats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572000"/>
            <a:ext cx="292608" cy="29260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590288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4553712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Step 3: 'Log Backup' — T-SQL — BACKUP LOG NovaMart ... WITH INIT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001768"/>
            <a:ext cx="292608" cy="29260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020056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983480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Add schedule: Daily at 02:00 — name: 'Nightly 02:00'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431536"/>
            <a:ext cx="292608" cy="29260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449824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4132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Right-click job → Start Job at Step → Step 1 — run manually to test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61304"/>
            <a:ext cx="292608" cy="29260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879592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5843016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View job history — confirm all 3 steps show green checkmark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18120" y="2395728"/>
            <a:ext cx="3913632" cy="3730752"/>
          </a:xfrm>
          <a:prstGeom prst="rect">
            <a:avLst/>
          </a:prstGeom>
          <a:solidFill>
            <a:srgbClr val="0A1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01000" y="2487168"/>
            <a:ext cx="3547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1A366"/>
                </a:solidFill>
                <a:latin typeface="Calibri"/>
              </a:rPr>
              <a:t>VALIDATION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2852928"/>
            <a:ext cx="35478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✓  Job visible under SQL Agent → Jobs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3493008"/>
            <a:ext cx="35478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✓  All 3 steps complete successfully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4133088"/>
            <a:ext cx="35478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✓  Backup file created on disk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1000" y="4773168"/>
            <a:ext cx="35478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✓  Job history shows duration &amp; status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1000" y="5413248"/>
            <a:ext cx="35478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✓  Schedule appears in Job Properties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08: SQL Server Agent &amp; Automation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7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