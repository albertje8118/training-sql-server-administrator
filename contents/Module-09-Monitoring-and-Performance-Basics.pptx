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2011680" cy="47548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MODULE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Monitoring &amp;
Performance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461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7ACC"/>
                </a:solidFill>
                <a:latin typeface="Calibri"/>
              </a:rPr>
              <a:t>Find out what SQL Server is doing right now — and what is slowing it down —
using Activity Monitor, DMVs, and execution plans.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526280"/>
            <a:ext cx="3154680" cy="5303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Activity Monitor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4526280"/>
            <a:ext cx="3154680" cy="5303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DMVs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4526280"/>
            <a:ext cx="3154680" cy="5303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Blocking &amp; Waits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44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Day 2  ·  Afternoon  ·  1.5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09: Monitoring &amp; Performance Basics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A93A6"/>
                </a:solidFill>
                <a:latin typeface="Calibri"/>
              </a:rPr>
              <a:t>By the end of Module 09 you will be able to: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47472" cy="3474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572768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Use Activity Monitor to identify active sessions and expensive queries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05456"/>
            <a:ext cx="347472" cy="3474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432304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Query key DMVs to see CPU, memory, I/O, and wait statistics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64992"/>
            <a:ext cx="347472" cy="3474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9184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Identify a blocking chain and find the head blocker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151376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Explain what wait statistics reveal about performance bottlenecks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84064"/>
            <a:ext cx="347472" cy="3474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5010912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Read a basic query execution plan to find index scan warnings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09: Monitoring &amp; Performance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Activity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Activity Monitor gives a real-time dashboard of instance health — no T-SQL required.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81328"/>
            <a:ext cx="320040" cy="1325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920240"/>
            <a:ext cx="5074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4 live charts: % CPU, Waiting Tasks, Database I/O (MB/s), Batch Requests/sec
Refreshes every 10 seconds by default (configurable).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481328"/>
            <a:ext cx="320040" cy="13258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PROCESSES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920240"/>
            <a:ext cx="5074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Lists all active SPID sessions.
Columns: Session ID, CPU, Memory, Blocked By, Command, Wait Type, Host.
Right-click a session → Kill Process (use carefully!)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054096"/>
            <a:ext cx="320040" cy="132588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312724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RESOURCE WAITS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493008"/>
            <a:ext cx="5074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Cumulative wait categories since last reset.
Helps identify whether bottleneck is CPU, I/O, locks, network, or memory.
Higher wait ms = bigger contributor.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3054096"/>
            <a:ext cx="320040" cy="132588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312724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DATA FILE I/O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493008"/>
            <a:ext cx="5074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Per-database file read/write throughput.
Useful for identifying which database is driving I/O.
Check against storage capacity baseline.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40" y="4864608"/>
            <a:ext cx="320040" cy="132588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8728" y="493776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RECENT EXPENSIVE QUERIES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5303520"/>
            <a:ext cx="5074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Top queries by CPU, elapsed time, logical reads, or physical reads.
Click a row to see the query text and execution plan.
First place to look when 'the server is slow'.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46520"/>
            <a:ext cx="11384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D1B3E"/>
                </a:solidFill>
                <a:latin typeface="Calibri"/>
              </a:rPr>
              <a:t>Open:  SSMS toolbar → Activity Monitor icon  — or — right-click instance → Activity Monitor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09: Monitoring &amp; Performance Basics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Essential DMVs for Every DBA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Dynamic Management Views surface real-time engine data — far more detail than Activity Monitor.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5989320" cy="5074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499616"/>
            <a:ext cx="5660136" cy="4855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nsolas"/>
              </a:rPr>
              <a:t>-- Active sessions with wait info
SELECT r.session_id, r.status, r.cpu_time, r.total_elapsed_time,
       r.wait_type, r.wait_time, t.text AS sql_text
FROM sys.dm_exec_requests r
CROSS APPLY sys.dm_exec_sql_text(r.sql_handle) t
WHERE r.session_id &gt; 50  -- exclude system sessions
ORDER BY r.cpu_time DESC;
-- Top wait types since last restart
SELECT TOP 10 wait_type, wait_time_ms, waiting_tasks_count
FROM sys.dm_os_wait_stats
WHERE wait_type NOT IN ('SLEEP_TASK','BROKER_TO_FLUSH','WAITFOR',...)
ORDER BY wait_time_ms DESC;
-- Memory usage by database
SELECT database_id, DB_NAME(database_id) AS DBName,
       COUNT(*) * 8 / 1024 AS CacheMB
FROM sys.dm_os_buffer_descriptors
GROUP BY database_id ORDER BY CacheMB DESC;</a:t>
            </a:r>
          </a:p>
        </p:txBody>
      </p:sp>
      <p:sp>
        <p:nvSpPr>
          <p:cNvPr id="7" name="Rectangle 6"/>
          <p:cNvSpPr/>
          <p:nvPr/>
        </p:nvSpPr>
        <p:spPr>
          <a:xfrm>
            <a:off x="6748272" y="1481328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14032" y="1389888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sys.dm_exec_requests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4032" y="1645920"/>
            <a:ext cx="4736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Currently executing requests — CPU, waits, query 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48272" y="2130552"/>
            <a:ext cx="256032" cy="2560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4032" y="2039112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sys.dm_exec_sessions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4032" y="2295144"/>
            <a:ext cx="4736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All open sessions — login, host, program name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48272" y="2779776"/>
            <a:ext cx="256032" cy="25603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4032" y="2688336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sys.dm_exec_sql_text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2" y="2944368"/>
            <a:ext cx="4736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Table-valued function — returns SQL text from sql_handle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48272" y="3429000"/>
            <a:ext cx="256032" cy="25603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2" y="3337560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sys.dm_os_wait_stats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3593592"/>
            <a:ext cx="4736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Cumulative wait type counts and durations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48272" y="4078224"/>
            <a:ext cx="25603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4032" y="3986784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sys.dm_os_buffer_descriptors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2" y="4242816"/>
            <a:ext cx="4736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Buffer pool pages — which DBs consume most memory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48272" y="4727448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14032" y="4636008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sys.dm_io_virtual_file_stats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4032" y="4892040"/>
            <a:ext cx="4736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Actual read/write I/O per database file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48272" y="5376672"/>
            <a:ext cx="256032" cy="2560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14032" y="5285232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sys.dm_exec_query_stats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032" y="5541264"/>
            <a:ext cx="4736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Cached query plan stats — logical reads, CPU, executions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09: Monitoring &amp; Performance Basics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Blocking &amp; Deadlocks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Blocking degrades throughput. Deadlocks crash sessions. Both have T-SQL diagnostic queries.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5440680" cy="2148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36192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9E0B"/>
                </a:solidFill>
                <a:latin typeface="Calibri"/>
              </a:rPr>
              <a:t>BLOCKING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93392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Session A holds a lock; Session B waits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2257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Blocking is normal — only a problem if &gt; 5 sec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51760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Head blocker: the session that no-one is waiting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80944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sys.dm_exec_requests.blocking_session_id = head blocker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3101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Resolution: commit/rollback the long transaction or kill SPID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417320"/>
            <a:ext cx="5577840" cy="2148840"/>
          </a:xfrm>
          <a:prstGeom prst="rect">
            <a:avLst/>
          </a:prstGeom>
          <a:solidFill>
            <a:srgbClr val="4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2" y="153619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05252"/>
                </a:solidFill>
                <a:latin typeface="Calibri"/>
              </a:rPr>
              <a:t>DEADLOCK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199339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Session A waits for B; Session B waits for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3225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SQL Server detects and kills the 'deadlock victim'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5176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Victim receives error 1205 — must retry the transaction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98094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Trace flag 1222 or Extended Events to capture deadlock 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31012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Resolution: consistent lock-acquisition order; shorter transactions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639312"/>
            <a:ext cx="11384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FIND THE HEAD BLOCKER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977639"/>
            <a:ext cx="6903720" cy="2514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4087367"/>
            <a:ext cx="657453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SELECT
  r.session_id,
  r.blocking_session_id,
  r.wait_type,
  r.wait_time / 1000.0 AS wait_sec,
  t.text AS blocking_sql
FROM sys.dm_exec_requests r
CROSS APPLY sys.dm_exec_sql_text(r.sql_handle) t
WHERE r.blocking_session_id &gt; 0;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3977639"/>
            <a:ext cx="42611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D1B3E"/>
                </a:solidFill>
                <a:latin typeface="Calibri"/>
              </a:rPr>
              <a:t>Kill head blocker (last resort):
KILL &lt;session_id&gt;;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16368" y="4828032"/>
            <a:ext cx="4261104" cy="457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4937760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KILL 58;  -- kills session 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8" y="5376672"/>
            <a:ext cx="4261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3A6"/>
                </a:solidFill>
                <a:latin typeface="Calibri"/>
              </a:rPr>
              <a:t>Warning: KILL causes an immediate rollback — can be slow for large transactions.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09: Monitoring &amp; Performance Basics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D1B3E"/>
                </a:solidFill>
                <a:latin typeface="Calibri"/>
              </a:rPr>
              <a:t>Wait Statistics &amp; Execution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Wait types tell you WHY queries are slow. Execution plans show you WHERE time is spent.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5989320" cy="39136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36192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COMMON WAIT TYPES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47672"/>
            <a:ext cx="201168" cy="25603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PAGEIOLATCH_SH/_EX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19019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Waiting for a data page to load from disk → I/O bottleneck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78024"/>
            <a:ext cx="201168" cy="256032"/>
          </a:xfrm>
          <a:prstGeom prst="rect">
            <a:avLst/>
          </a:prstGeom>
          <a:solidFill>
            <a:srgbClr val="E0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432304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LCK_M_X / LCK_M_S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43230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Lock waits → blocking by another transaction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08376"/>
            <a:ext cx="201168" cy="2560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62656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CXPACKET / CXCONSUMER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296265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Parallel query coordination → consider MAXDOP tuning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538728"/>
            <a:ext cx="201168" cy="25603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493008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ASYNC_NETWORK_IO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349300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Client not consuming results fast enough → app layer issue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069080"/>
            <a:ext cx="201168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23360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SOS_SCHEDULER_YIELD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4023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CPU pressure → queries spinning on scheduler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599432"/>
            <a:ext cx="201168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553712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WRITELOG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45537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Log flush waits → storage I/O latency on log drive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0" y="1417320"/>
            <a:ext cx="5148072" cy="3913632"/>
          </a:xfrm>
          <a:prstGeom prst="rect">
            <a:avLst/>
          </a:prstGeom>
          <a:solidFill>
            <a:srgbClr val="05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1536192"/>
            <a:ext cx="5148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7ACC"/>
                </a:solidFill>
                <a:latin typeface="Calibri"/>
              </a:rPr>
              <a:t>READING EXECUTION PLANS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4848" y="1901952"/>
            <a:ext cx="1719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C"/>
                </a:solidFill>
                <a:latin typeface="Calibri"/>
              </a:rPr>
              <a:t>Show actual plan: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190195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Query → Include Actual Execution Plan (Ctrl+M)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2432304"/>
            <a:ext cx="1719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C"/>
                </a:solidFill>
                <a:latin typeface="Calibri"/>
              </a:rPr>
              <a:t>Read right to left: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43230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Data flows from rightmost operator to leftmost (SELECT)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2962656"/>
            <a:ext cx="1719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C"/>
                </a:solidFill>
                <a:latin typeface="Calibri"/>
              </a:rPr>
              <a:t>Thick arrows = cost: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296265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Wider line = more rows estimated — check for skew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4848" y="3493008"/>
            <a:ext cx="1719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C"/>
                </a:solidFill>
                <a:latin typeface="Calibri"/>
              </a:rPr>
              <a:t>Table Scan warning: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3493008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Orange exclamation = no suitable index — consider adding 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4848" y="4023360"/>
            <a:ext cx="1719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C"/>
                </a:solidFill>
                <a:latin typeface="Calibri"/>
              </a:rPr>
              <a:t>Key Lookup: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02336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Goes to clustered index for columns not in non-clustered → add INCLUDE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84848" y="4553712"/>
            <a:ext cx="1719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CC"/>
                </a:solidFill>
                <a:latin typeface="Calibri"/>
              </a:rPr>
              <a:t>Cost %: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455371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Percentage of total plan cost — highest % = tune first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5440680"/>
            <a:ext cx="11384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D1B3E"/>
                </a:solidFill>
                <a:latin typeface="Calibri"/>
              </a:rPr>
              <a:t>Estimated vs Actual rows divergence &gt; 10× = statistics are stale → run UPDATE STATISTICS.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09: Monitoring &amp; Performance Basics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828800" cy="45720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LAB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Investigate Dian's Slow Inventory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38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Duration: ~45 min  ·  Tool: SSMS  ·  Database: NovaMart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95728"/>
            <a:ext cx="7040880" cy="4069080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EA6"/>
                </a:solidFill>
                <a:latin typeface="Calibri"/>
              </a:rPr>
              <a:t>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7208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779776"/>
            <a:ext cx="62362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Open Activity Monitor — observe CPU %, Waiting Tasks, Batch Requests/sec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63824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82112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154680"/>
            <a:ext cx="62362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Expand 'Recent Expensive Queries' — find the inventory report query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38728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57016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529584"/>
            <a:ext cx="62362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Run the DMV query for active sessions — review wait_type column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913632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904488"/>
            <a:ext cx="62362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Run sys.dm_os_wait_stats — identify top 5 wait types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288536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306824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279392"/>
            <a:ext cx="62362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Open a new query: SELECT * FROM Product ORDER BY ProductName (no index on name)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663440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654296"/>
            <a:ext cx="62362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Enable 'Include Actual Execution Plan' — run the query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038344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056632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5029200"/>
            <a:ext cx="62362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Read the plan: identify Table Scan warning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413248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31536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5404104"/>
            <a:ext cx="62362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Simulate blocking: open 2 windows, BEGIN TRAN + UPDATE in window 1, SELECT in window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788152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806440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779008"/>
            <a:ext cx="62362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Identify the blocking session using dm_exec_requests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63056"/>
            <a:ext cx="256032" cy="2560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181344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" y="6153912"/>
            <a:ext cx="62362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Roll back window 1 transaction — confirm window 2 unblocks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18120" y="2395728"/>
            <a:ext cx="3913632" cy="4069080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248716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A366"/>
                </a:solidFill>
                <a:latin typeface="Calibri"/>
              </a:rPr>
              <a:t>VALIDATION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2788920"/>
            <a:ext cx="35478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✓  Activity Monitor loads successfully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3374136"/>
            <a:ext cx="35478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✓  DMV returns active session rows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3959352"/>
            <a:ext cx="35478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✓  Top wait types identified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4544568"/>
            <a:ext cx="35478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✓  Table Scan visible in plan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1000" y="5129784"/>
            <a:ext cx="35478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✓  Blocking chain identified via DMV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5715000"/>
            <a:ext cx="35478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✓  Blocking resolves after ROLLBACK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09: Monitoring &amp; Performance Basics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DBA Performance First-Response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87552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007ACC"/>
                </a:solidFill>
                <a:latin typeface="Calibri"/>
              </a:rPr>
              <a:t>When someone says 'SQL Server is slow', start 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81328"/>
            <a:ext cx="347472" cy="96012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Check CPU &amp; Batch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Activity Monitor overview charts — is CPU spiking or flat?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481328"/>
            <a:ext cx="347472" cy="9601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Check Waiting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8272" y="19202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Activity Monitor — large Waiting Tasks = blocking or resource pressure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651760"/>
            <a:ext cx="347472" cy="96012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24912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Find Blocking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90672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dm_exec_requests WHERE blocking_session_id &gt;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2651760"/>
            <a:ext cx="347472" cy="96012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2724912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Check Top Wait Types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8272" y="3090672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dm_os_wait_stats — top wait category guides next steps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822192"/>
            <a:ext cx="347472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95344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Find Expensive Queries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6110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Activity Monitor Recent Expensive Queries OR dm_exec_query_stats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3822192"/>
            <a:ext cx="347472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2" y="3895344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Check Index Fragmentation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426110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dm_db_index_physical_stats — run if I/O is the wait type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992624"/>
            <a:ext cx="347472" cy="96012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065776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Check Available 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31536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dm_os_sys_info.physical_memory_in_use_kb vs total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5352" y="4992624"/>
            <a:ext cx="347472" cy="9601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8272" y="5065776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Review SQL Server Error Log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5431536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Management → SQL Server Logs — any recent errors or warnings?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09: Monitoring &amp; Performance Basics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