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Monitoring &amp;
Performance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7ACC"/>
                </a:solidFill>
                <a:latin typeface="Calibri"/>
              </a:rPr>
              <a:t>Find out what SQL Server is doing right now — and what is slowing it down —
using Activity Monitor, DMVs, and execution plans.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3154680" cy="5303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Activity Monitor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526280"/>
            <a:ext cx="3154680" cy="5303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DMVs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526280"/>
            <a:ext cx="315468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59028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Blocking &amp; Waits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Day 2  ·  Afternoon  ·  1.5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09: Monitoring &amp; Performance Basics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09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Use Activity Monitor to identify active sessions and expensive queries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Query key DMVs to see CPU, memory, I/O, and wait statistics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Identify a blocking chain and find the head blocker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Explain what wait statistics reveal about performance bottlenecks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Read a basic query execution plan to find index scan warnings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09: Monitoring &amp; Performance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Activity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Activity Monitor gives a real-time dashboard of instance health — no T-SQL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320040" cy="1325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4 live charts: % CPU, Waiting Tasks, Database I/O (MB/s), Batch Requests/sec
Refreshes every 10 seconds by default (configurable).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481328"/>
            <a:ext cx="320040" cy="1325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PROCESSES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20240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Lists all active SPID sessions.
Columns: Session ID, CPU, Memory, Blocked By, Command, Wait Type, Host.
Right-click a session → Kill Process (use carefully!)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54096"/>
            <a:ext cx="320040" cy="132588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127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RESOURCE WAITS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49300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Cumulative wait categories since last reset.
Helps identify whether bottleneck is CPU, I/O, locks, network, or memory.
Higher wait ms = bigger contributor.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054096"/>
            <a:ext cx="320040" cy="132588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12724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DATA FILE I/O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49300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Per-database file read/write throughput.
Useful for identifying which database is driving I/O.
Check against storage capacity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4864608"/>
            <a:ext cx="320040" cy="132588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493776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RECENT EXPENSIVE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5303520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Calibri"/>
              </a:rPr>
              <a:t>Top queries by CPU, elapsed time, logical reads, or physical reads.
Click a row to see the query text and execution plan.
First place to look when 'the server is slow'.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144768"/>
            <a:ext cx="11384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3E"/>
                </a:solidFill>
                <a:latin typeface="Calibri"/>
              </a:rPr>
              <a:t>Open:  SSMS toolbar → Activity Monitor icon  — or — right-click instance → Activity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09: Monitoring &amp; Performance Basics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Essential DMVs for Every DBA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Dynamic Management Views surface real-time engine data — far more detail than Activity Monitor.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89888"/>
            <a:ext cx="5989320" cy="5074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99616"/>
            <a:ext cx="56601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nsolas"/>
              </a:rPr>
              <a:t>-- Active sessions with wait info
SELECT r.session_id, r.status, r.cpu_time, r.total_elapsed_time,
       r.wait_type, r.wait_time, t.text AS sql_text
FROM sys.dm_exec_requests r
CROSS APPLY sys.dm_exec_sql_text(r.sql_handle) t
WHERE r.session_id &gt; 50  -- exclude system sessions
ORDER BY r.cpu_time DESC;
-- Top wait types since last restart
SELECT TOP 10 wait_type, wait_time_ms, waiting_tasks_count
FROM sys.dm_os_wait_stats
WHERE wait_type NOT IN ('SLEEP_TASK','BROKER_TO_FLUSH','WAITFOR',...)
ORDER BY wait_time_ms DESC;
-- Memory usage by database
SELECT database_id, DB_NAME(database_id) AS DBName,
       COUNT(*) * 8 / 1024 AS CacheMB
FROM sys.dm_os_buffer_descriptors
GROUP BY database_id ORDER BY CacheMB DESC;</a:t>
            </a:r>
          </a:p>
        </p:txBody>
      </p:sp>
      <p:sp>
        <p:nvSpPr>
          <p:cNvPr id="7" name="Rectangle 6"/>
          <p:cNvSpPr/>
          <p:nvPr/>
        </p:nvSpPr>
        <p:spPr>
          <a:xfrm>
            <a:off x="6748272" y="1481328"/>
            <a:ext cx="25603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4032" y="1389888"/>
            <a:ext cx="4736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sys.dm_exec_requests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1645920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Currently executing requests — CPU, waits, query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8272" y="2130552"/>
            <a:ext cx="256032" cy="2560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2039112"/>
            <a:ext cx="4736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sys.dm_exec_sessions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295144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All open sessions — login, host, program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48272" y="2779776"/>
            <a:ext cx="256032" cy="25603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2688336"/>
            <a:ext cx="4736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sys.dm_exec_sql_text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944368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Table-valued function — returns SQL text from sql_handle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48272" y="3429000"/>
            <a:ext cx="256032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3337560"/>
            <a:ext cx="4736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sys.dm_os_wait_stats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3593592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Cumulative wait type counts and durations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8272" y="4078224"/>
            <a:ext cx="25603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3986784"/>
            <a:ext cx="4736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sys.dm_os_buffer_descriptors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4242816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Buffer pool pages — which DBs consume most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8272" y="4727448"/>
            <a:ext cx="25603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4636008"/>
            <a:ext cx="4736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sys.dm_io_virtual_file_stats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4892040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Actual read/write I/O per database 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48272" y="5376672"/>
            <a:ext cx="256032" cy="2560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5285232"/>
            <a:ext cx="4736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sys.dm_exec_query_stats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5541264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Cached query plan stats — logical reads, CPU, executions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09: Monitoring &amp; Performance Basics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Blocking &amp; Deadlocks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Blocking degrades throughput. Deadlocks crash sessions. Both have T-SQL diagnostic queries.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440680" cy="2148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BLOCKING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Session A holds a lock; Session B waits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225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Blocking is normal — only a problem if &gt; 5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Head blocker: the session that no-one is waiting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8094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sys.dm_exec_requests.blocking_session_id = head blocker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0128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Resolution: commit/rollback the long transaction or kill SPID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417320"/>
            <a:ext cx="5577840" cy="2148840"/>
          </a:xfrm>
          <a:prstGeom prst="rect">
            <a:avLst/>
          </a:prstGeom>
          <a:solidFill>
            <a:srgbClr val="4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5361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05252"/>
                </a:solidFill>
                <a:latin typeface="Calibri"/>
              </a:rPr>
              <a:t>DEADLOCK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933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Session A waits for B; Session B waits for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3225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SQL Server detects and kills the 'deadlock victim'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517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Victim receives error 1205 — must retry the 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9809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Trace flag 1222 or Extended Events to capture deadlock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3101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·  Resolution: consistent lock-acquisition order; shorter 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639312"/>
            <a:ext cx="11384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FIND THE HEAD BLOCKER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977639"/>
            <a:ext cx="6903720" cy="2514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4087367"/>
            <a:ext cx="657453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SELECT
  r.session_id,
  r.blocking_session_id,
  r.wait_type,
  r.wait_time / 1000.0 AS wait_sec,
  t.text AS blocking_sql
FROM sys.dm_exec_requests r
CROSS APPLY sys.dm_exec_sql_text(r.sql_handle) t
WHERE r.blocking_session_id &gt; 0;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977639"/>
            <a:ext cx="426110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Kill head blocker (last resort):
KILL &lt;session_id&gt;;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6368" y="4828032"/>
            <a:ext cx="4261104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4937760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KILL 58;  -- kills session 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5376672"/>
            <a:ext cx="4261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6"/>
                </a:solidFill>
                <a:latin typeface="Calibri"/>
              </a:rPr>
              <a:t>Warning: KILL causes an immediate rollback — can be slow for large transactions.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09: Monitoring &amp; Performance Basics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Wait Statistics &amp; Execution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Wait types tell you WHY queries are slow. Execution plans show you WHERE time is spent.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989320" cy="39136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COMMON WAIT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47672"/>
            <a:ext cx="201168" cy="25603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PAGEIOLATCH_SH/_EX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19019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Waiting for a data page to load from disk → I/O bottleneck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78024"/>
            <a:ext cx="201168" cy="256032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32304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LCK_M_X / LCK_M_S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432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Lock waits → blocking by another transaction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08376"/>
            <a:ext cx="201168" cy="2560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626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CXPACKET / CXCONSUMER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9626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Parallel query coordination → consider MAXDOP tuning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538728"/>
            <a:ext cx="201168" cy="25603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49300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ASYNC_NETWORK_IO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493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Client not consuming results fast enough → app layer issue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069080"/>
            <a:ext cx="201168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2336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SOS_SCHEDULER_YIELD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CPU pressure → queries spinning on scheduler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599432"/>
            <a:ext cx="201168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55371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WRITELOG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45537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Log flush waits → storage I/O latency on log drive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1417320"/>
            <a:ext cx="5148072" cy="3913632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1536192"/>
            <a:ext cx="5148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7ACC"/>
                </a:solidFill>
                <a:latin typeface="Calibri"/>
              </a:rPr>
              <a:t>READING EXECUTION PLANS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1901952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C"/>
                </a:solidFill>
                <a:latin typeface="Calibri"/>
              </a:rPr>
              <a:t>Show actual plan: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90195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Query → Include Actual Execution Plan (Ctrl+M)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2432304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C"/>
                </a:solidFill>
                <a:latin typeface="Calibri"/>
              </a:rPr>
              <a:t>Read right to left: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43230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Data flows from rightmost operator to leftmost (SELECT)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962656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C"/>
                </a:solidFill>
                <a:latin typeface="Calibri"/>
              </a:rPr>
              <a:t>Thick arrows = cost: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96265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Wider line = more rows estimated — check for skew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3493008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C"/>
                </a:solidFill>
                <a:latin typeface="Calibri"/>
              </a:rPr>
              <a:t>Table Scan warning: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349300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Orange exclamation = no suitable index — consider adding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023360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C"/>
                </a:solidFill>
                <a:latin typeface="Calibri"/>
              </a:rPr>
              <a:t>Key Lookup: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02336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Goes to clustered index for columns not in non-clustered → add INCLUDE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4553712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CC"/>
                </a:solidFill>
                <a:latin typeface="Calibri"/>
              </a:rPr>
              <a:t>Cost %: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55371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Percentage of total plan cost — highest % = tune first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440680"/>
            <a:ext cx="11384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1B3E"/>
                </a:solidFill>
                <a:latin typeface="Calibri"/>
              </a:rPr>
              <a:t>Estimated vs Actual rows divergence &gt; 10× = statistics are stale → run UPDATE STATISTICS.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09: Monitoring &amp; Performance Basics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Investigate Dian's Slow Inventory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~45 min  ·  Tool: SSMS  ·  Database: NovaMart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4069080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EA6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720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79776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Open Activity Monitor — observe CPU %, Waiting Tasks, Batch Requests/sec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63824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82112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154680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Expand 'Recent Expensive Queries' — find the inventory report query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38728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570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529584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Run the DMV query for active sessions — review wait_type column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13632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904488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Run sys.dm_os_wait_stats — identify top 5 wait 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88536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068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279392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Open a new query: SELECT * FROM Product ORDER BY ProductName (no index on name)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63440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8172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654296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Enable 'Include Actual Execution Plan' — run the query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38344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56632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029200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Read the plan: identify Table Scan warning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413248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315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404104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Simulate blocking: open 2 windows, BEGIN TRAN + UPDATE in window 1, SELECT in window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788152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806440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5779008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Identify the blocking session using dm_exec_requests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163056"/>
            <a:ext cx="347472" cy="25603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18134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6153912"/>
            <a:ext cx="6144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Roll back window 1 transaction — confirm window 2 unblocks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2395728"/>
            <a:ext cx="3913632" cy="4069080"/>
          </a:xfrm>
          <a:prstGeom prst="rect">
            <a:avLst/>
          </a:prstGeom>
          <a:solidFill>
            <a:srgbClr val="0A1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A366"/>
                </a:solidFill>
                <a:latin typeface="Calibri"/>
              </a:rPr>
              <a:t>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788920"/>
            <a:ext cx="3547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Activity Monitor loads successfully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3374136"/>
            <a:ext cx="3547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DMV returns active session rows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3959352"/>
            <a:ext cx="3547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Top wait types identified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544568"/>
            <a:ext cx="3547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Table Scan visible in plan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5129784"/>
            <a:ext cx="3547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Blocking chain identified via DMV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715000"/>
            <a:ext cx="3547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Blocking resolves after ROLLBACK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09: Monitoring &amp; Performance Basics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DBA Performance First-Response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87552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7ACC"/>
                </a:solidFill>
                <a:latin typeface="Calibri"/>
              </a:rPr>
              <a:t>When someone says 'SQL Server is slow', start 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347472" cy="96012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Check CPU &amp; Batch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Activity Monitor overview charts — is CPU spiking or flat?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481328"/>
            <a:ext cx="347472" cy="960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5544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Check Waiting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920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Activity Monitor — large Waiting Tasks = blocking or resource pressure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51760"/>
            <a:ext cx="347472" cy="960120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Find Blocking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dm_exec_requests WHERE blocking_session_id &gt;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2651760"/>
            <a:ext cx="347472" cy="960120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272491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Check Top Wait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09067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dm_os_wait_stats — top wait category guides next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22192"/>
            <a:ext cx="34747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Find Expensive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6110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Activity Monitor Recent Expensive Queries OR dm_exec_query_stats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3822192"/>
            <a:ext cx="347472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89534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Check Index Fragmentation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426110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dm_db_index_physical_stats — run if I/O is the wait 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992624"/>
            <a:ext cx="347472" cy="96012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6577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Check Available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3153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dm_os_sys_info.physical_memory_in_use_kb vs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992624"/>
            <a:ext cx="347472" cy="960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506577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Review SQL Server Error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543153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Calibri"/>
              </a:rPr>
              <a:t>Management → SQL Server Logs — any recent errors or warnings?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09: Monitoring &amp; Performance Basics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