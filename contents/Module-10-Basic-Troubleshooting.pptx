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804672"/>
            <a:ext cx="2011680" cy="475488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MODULE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Calibri"/>
              </a:rPr>
              <a:t>Basic Troubleshooting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0632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E8501A"/>
                </a:solidFill>
                <a:latin typeface="Calibri"/>
              </a:rPr>
              <a:t>Monday morning tickets: connection errors, login failures, and slow queries.
Here is how to diagnose and resolve them confidently.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4526280"/>
            <a:ext cx="3154680" cy="530352"/>
          </a:xfrm>
          <a:prstGeom prst="rect">
            <a:avLst/>
          </a:prstGeom>
          <a:solidFill>
            <a:srgbClr val="E052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4590288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Connection Issues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9080" y="4526280"/>
            <a:ext cx="3154680" cy="5303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69080" y="4590288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Login Failures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35240" y="4526280"/>
            <a:ext cx="3154680" cy="53035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35240" y="4590288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Error Logs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14476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3A6"/>
                </a:solidFill>
                <a:latin typeface="Calibri"/>
              </a:rPr>
              <a:t>Day 2  ·  Afternoon  ·  1 hour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10: Basic Troubleshooting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1 /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47472"/>
            <a:ext cx="121889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D1B3E"/>
                </a:solidFill>
                <a:latin typeface="Calibri"/>
              </a:rPr>
              <a:t>What You Will Learn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8A93A6"/>
                </a:solidFill>
                <a:latin typeface="Calibri"/>
              </a:rPr>
              <a:t>By the end of Module 10 you will be able to: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45920"/>
            <a:ext cx="347472" cy="347472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70432" y="1572768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D1B3E"/>
                </a:solidFill>
                <a:latin typeface="Calibri"/>
              </a:rPr>
              <a:t>Diagnose and resolve the most common SQL Server connection errors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505456"/>
            <a:ext cx="347472" cy="347472"/>
          </a:xfrm>
          <a:prstGeom prst="rect">
            <a:avLst/>
          </a:prstGeom>
          <a:solidFill>
            <a:srgbClr val="E052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" y="2432304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D1B3E"/>
                </a:solidFill>
                <a:latin typeface="Calibri"/>
              </a:rPr>
              <a:t>Identify the root cause of login failure errors (18456 and variants)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364992"/>
            <a:ext cx="347472" cy="34747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3291840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D1B3E"/>
                </a:solidFill>
                <a:latin typeface="Calibri"/>
              </a:rPr>
              <a:t>Read the SQL Server Error Log in SSMS and via T-SQL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224528"/>
            <a:ext cx="347472" cy="347472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4151376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D1B3E"/>
                </a:solidFill>
                <a:latin typeface="Calibri"/>
              </a:rPr>
              <a:t>Apply a structured first-response workflow to an unfamiliar incident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084064"/>
            <a:ext cx="347472" cy="347472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5010912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D1B3E"/>
                </a:solidFill>
                <a:latin typeface="Calibri"/>
              </a:rPr>
              <a:t>Simulate and resolve three realistic Monday-morning support tickets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10: Basic Troubleshooting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052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47472"/>
            <a:ext cx="121889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0D1B3E"/>
                </a:solidFill>
                <a:latin typeface="Calibri"/>
              </a:rPr>
              <a:t>Common Connection Errors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960120"/>
            <a:ext cx="12188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8A93A6"/>
                </a:solidFill>
                <a:latin typeface="Calibri"/>
              </a:rPr>
              <a:t>Most connection failures have a small set of root causes — check them in order.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444752"/>
            <a:ext cx="347472" cy="1051560"/>
          </a:xfrm>
          <a:prstGeom prst="rect">
            <a:avLst/>
          </a:prstGeom>
          <a:solidFill>
            <a:srgbClr val="E052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490472"/>
            <a:ext cx="10835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3E"/>
                </a:solidFill>
                <a:latin typeface="Calibri"/>
              </a:rPr>
              <a:t>Error 53 — "Network path not found"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828800"/>
            <a:ext cx="10835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3A6"/>
                </a:solidFill>
                <a:latin typeface="Calibri"/>
              </a:rPr>
              <a:t>SQL Server Browser not running, or TCP/IP disabled.
Fix: SQL Server Configuration Manager → enable TCP/IP → restart service.
Check: telnet &lt;server&gt; 1433  or  Test-NetConnection &lt;server&gt; -Port 1433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706624"/>
            <a:ext cx="347472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752344"/>
            <a:ext cx="10835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3E"/>
                </a:solidFill>
                <a:latin typeface="Calibri"/>
              </a:rPr>
              <a:t>Error 17 — "SQL Server does not exist or access denied"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090672"/>
            <a:ext cx="10835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3A6"/>
                </a:solidFill>
                <a:latin typeface="Calibri"/>
              </a:rPr>
              <a:t>Instance name wrong, or firewall blocking port 1433.
Fix: Verify instance name (SERVERNAME or SERVERNAME\INSTANCENAME).
Check: Windows Firewall → Inbound Rule for TCP 1433 exists and is enabled.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3968496"/>
            <a:ext cx="347472" cy="1051560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4014216"/>
            <a:ext cx="10835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3E"/>
                </a:solidFill>
                <a:latin typeface="Calibri"/>
              </a:rPr>
              <a:t>Error 4060 — "Cannot open database requested"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352544"/>
            <a:ext cx="10835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3A6"/>
                </a:solidFill>
                <a:latin typeface="Calibri"/>
              </a:rPr>
              <a:t>Login is valid but default database is offline or dropped.
Fix: ALTER LOGIN [user] WITH DEFAULT_DATABASE = master;
Or: specify a different database in the connection string.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5230368"/>
            <a:ext cx="347472" cy="1051560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5276088"/>
            <a:ext cx="10835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3E"/>
                </a:solidFill>
                <a:latin typeface="Calibri"/>
              </a:rPr>
              <a:t>Error 10060 — "Connection timed out"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5614416"/>
            <a:ext cx="10835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3A6"/>
                </a:solidFill>
                <a:latin typeface="Calibri"/>
              </a:rPr>
              <a:t>Network latency, wrong IP, or SQL Server not accepting connections.
Fix: ping the server, check IP/hostname, verify SQL Server is Running.
Check: sys.dm_exec_connections — if 0 rows, service may be down.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10: Basic Troubleshooting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47472"/>
            <a:ext cx="121889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0D1B3E"/>
                </a:solidFill>
                <a:latin typeface="Calibri"/>
              </a:rPr>
              <a:t>Login Failure — Error 18456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960120"/>
            <a:ext cx="12188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8A93A6"/>
                </a:solidFill>
                <a:latin typeface="Calibri"/>
              </a:rPr>
              <a:t>Error 18456 means "login failed." The state number reveals the exact reason.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417320"/>
            <a:ext cx="11384280" cy="42519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536192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59E0B"/>
                </a:solidFill>
                <a:latin typeface="Calibri"/>
              </a:rPr>
              <a:t>STATE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29968" y="1536192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MEANING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901952"/>
            <a:ext cx="11384280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9568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9E0B"/>
                </a:solidFill>
                <a:latin typeface="Calibri"/>
              </a:rPr>
              <a:t>State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29968" y="1956816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Generic — details suppressed for security. Check Error Log for real state.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286000"/>
            <a:ext cx="11384280" cy="384048"/>
          </a:xfrm>
          <a:prstGeom prst="rect">
            <a:avLst/>
          </a:prstGeom>
          <a:solidFill>
            <a:srgbClr val="1022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34086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9E0B"/>
                </a:solidFill>
                <a:latin typeface="Calibri"/>
              </a:rPr>
              <a:t>State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9968" y="234086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Invalid user ID — login not found in sys.server_principals.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670048"/>
            <a:ext cx="11384280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72491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9E0B"/>
                </a:solidFill>
                <a:latin typeface="Calibri"/>
              </a:rPr>
              <a:t>State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29968" y="2724912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Invalid user ID — same as state 2 (older versions).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054096"/>
            <a:ext cx="11384280" cy="384048"/>
          </a:xfrm>
          <a:prstGeom prst="rect">
            <a:avLst/>
          </a:prstGeom>
          <a:solidFill>
            <a:srgbClr val="1022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31089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9E0B"/>
                </a:solidFill>
                <a:latin typeface="Calibri"/>
              </a:rPr>
              <a:t>State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29968" y="310896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Login attempted with Windows auth but only SQL auth is configured.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438144"/>
            <a:ext cx="11384280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349300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9E0B"/>
                </a:solidFill>
                <a:latin typeface="Calibri"/>
              </a:rPr>
              <a:t>State 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29968" y="349300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Login disabled AND wrong password provided.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822192"/>
            <a:ext cx="11384280" cy="384048"/>
          </a:xfrm>
          <a:prstGeom prst="rect">
            <a:avLst/>
          </a:prstGeom>
          <a:solidFill>
            <a:srgbClr val="1022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87705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9E0B"/>
                </a:solidFill>
                <a:latin typeface="Calibri"/>
              </a:rPr>
              <a:t>State 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29968" y="3877056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Correct login name but wrong password.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4206240"/>
            <a:ext cx="11384280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426110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9E0B"/>
                </a:solidFill>
                <a:latin typeface="Calibri"/>
              </a:rPr>
              <a:t>State 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29968" y="426110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Login does not have permission to log in — login disabled.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590288"/>
            <a:ext cx="11384280" cy="384048"/>
          </a:xfrm>
          <a:prstGeom prst="rect">
            <a:avLst/>
          </a:prstGeom>
          <a:solidFill>
            <a:srgbClr val="1022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9E0B"/>
                </a:solidFill>
                <a:latin typeface="Calibri"/>
              </a:rPr>
              <a:t>State 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29968" y="4645152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Login valid but access denied to the server — check server role.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4974336"/>
            <a:ext cx="11384280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50292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9E0B"/>
                </a:solidFill>
                <a:latin typeface="Calibri"/>
              </a:rPr>
              <a:t>State 18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29968" y="5029200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Password expired — must change at next login.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5358384"/>
            <a:ext cx="11384280" cy="384048"/>
          </a:xfrm>
          <a:prstGeom prst="rect">
            <a:avLst/>
          </a:prstGeom>
          <a:solidFill>
            <a:srgbClr val="1022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54132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9E0B"/>
                </a:solidFill>
                <a:latin typeface="Calibri"/>
              </a:rPr>
              <a:t>State 38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29968" y="541324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Login valid, but database is unavailable (offline, restoring, or dropped).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5742432"/>
            <a:ext cx="11384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D1B3E"/>
                </a:solidFill>
                <a:latin typeface="Calibri"/>
              </a:rPr>
              <a:t>Always check the SQL Server Error Log for the actual state — client messages may show only State 1.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6080760"/>
            <a:ext cx="7315200" cy="3657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76072" y="6190488"/>
            <a:ext cx="6986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A8D8FF"/>
                </a:solidFill>
                <a:latin typeface="Consolas"/>
              </a:rPr>
              <a:t>EXEC sp_readerrorlog 0, 1, 'Login failed', 'NovaMart';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10: Basic Troubleshooting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47472"/>
            <a:ext cx="121889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0D1B3E"/>
                </a:solidFill>
                <a:latin typeface="Calibri"/>
              </a:rPr>
              <a:t>Reading the SQL Server Error 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960120"/>
            <a:ext cx="12188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8A93A6"/>
                </a:solidFill>
                <a:latin typeface="Calibri"/>
              </a:rPr>
              <a:t>The Error Log is the authoritative record of everything SQL Server has experienced.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417320"/>
            <a:ext cx="5349240" cy="41605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536192"/>
            <a:ext cx="5349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7ACC"/>
                </a:solidFill>
                <a:latin typeface="Calibri"/>
              </a:rPr>
              <a:t>VIA SSMS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93392"/>
            <a:ext cx="4983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 In Object Explorer: Management → SQL Server Logs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487168"/>
            <a:ext cx="4983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 Current log = most recent; Archive #1 = previous, etc.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980944"/>
            <a:ext cx="4983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 Double-click 'Current' to open Log File Viewer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474720"/>
            <a:ext cx="4983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 Filter by date range, error level, or search 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968496"/>
            <a:ext cx="4983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 Look for: Severity 16+ errors, stack dumps, I/O errors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462272"/>
            <a:ext cx="4983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 Event types: Information / Warning / Error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956048"/>
            <a:ext cx="4983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 Logs cycle at restart or when sp_cycle_errorlog is run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1417320"/>
            <a:ext cx="5605272" cy="4160520"/>
          </a:xfrm>
          <a:prstGeom prst="rect">
            <a:avLst/>
          </a:prstGeom>
          <a:solidFill>
            <a:srgbClr val="051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1536192"/>
            <a:ext cx="5605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7ACC"/>
                </a:solidFill>
                <a:latin typeface="Calibri"/>
              </a:rPr>
              <a:t>VIA T-SQL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91072" y="1874519"/>
            <a:ext cx="5376672" cy="3547872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1984247"/>
            <a:ext cx="5047488" cy="3328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A8D8FF"/>
                </a:solidFill>
                <a:latin typeface="Consolas"/>
              </a:rPr>
              <a:t>-- Read current error log
EXEC sp_readerrorlog;
-- Search for a keyword
EXEC sp_readerrorlog 0, 1, 'error';
-- Read archive log #1
EXEC sp_readerrorlog 1, 1, 'Login failed';
-- Check log file location
EXEC xp_readerrorlog 0, 1, N'Logging SQL Server messages';
-- Cycle the log (keeps current small)
EXEC sp_cycle_errorlog;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5687568"/>
            <a:ext cx="11384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  <a:latin typeface="Calibri"/>
              </a:rPr>
              <a:t>Critical errors to act on immediately:  823 (I/O failure), 824 (page checksum fail), 9001 (log not available).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10: Basic Troubleshooting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47472"/>
            <a:ext cx="121889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0D1B3E"/>
                </a:solidFill>
                <a:latin typeface="Calibri"/>
              </a:rPr>
              <a:t>Performance Bottlenecks — First Response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960120"/>
            <a:ext cx="12188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8A93A6"/>
                </a:solidFill>
                <a:latin typeface="Calibri"/>
              </a:rPr>
              <a:t>Narrow down to the right layer before tuning anything.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481328"/>
            <a:ext cx="347472" cy="1353312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  <a:latin typeface="Calibri"/>
              </a:rPr>
              <a:t>CPU Bottleneck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5074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Symptoms: high CPU in Task Manager, high Batch Requests/sec, CXPACKET waits.
Quick checks: sp_who2, dm_exec_requests ORDER BY cpu_time DESC.
Common causes: missing indexes → table scans, implicit conversions, high MAXDOP.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5352" y="1481328"/>
            <a:ext cx="347472" cy="135331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48272" y="1554480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  <a:latin typeface="Calibri"/>
              </a:rPr>
              <a:t>Memory Bottleneck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48272" y="1920240"/>
            <a:ext cx="5074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Symptoms: high PAGEIOLATCH waits, low PLE (Page Life Expectancy &lt; 300 sec).
Quick checks: dm_os_sys_info, dm_os_buffer_descriptors.
Causes: max server memory set too low, large unoptimised queries.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3054096"/>
            <a:ext cx="347472" cy="1353312"/>
          </a:xfrm>
          <a:prstGeom prst="rect">
            <a:avLst/>
          </a:prstGeom>
          <a:solidFill>
            <a:srgbClr val="E052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127248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  <a:latin typeface="Calibri"/>
              </a:rPr>
              <a:t>I/O Bottleneck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93008"/>
            <a:ext cx="5074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Symptoms: PAGEIOLATCH_SH/_EX waits, slow reads in Data File I/O chart.
Quick checks: dm_io_virtual_file_stats, DBCC SQLPERF('sys.dm_os_wait_stats').
Causes: storage latency, log drive contention, no SSD for log file.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5352" y="3054096"/>
            <a:ext cx="347472" cy="1353312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48272" y="3127248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  <a:latin typeface="Calibri"/>
              </a:rPr>
              <a:t>Lock / Blocking Bottleneck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48272" y="3493008"/>
            <a:ext cx="5074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Symptoms: LCK_M_X waits, sessions stuck on 'SUSPENDED' status.
Quick checks: dm_exec_requests WHERE blocking_session_id &gt; 0.
Causes: long open transactions, missing indexes causing wide table locks.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626864"/>
            <a:ext cx="347472" cy="1353312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700016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  <a:latin typeface="Calibri"/>
              </a:rPr>
              <a:t>Network Bottleneck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065776"/>
            <a:ext cx="5074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Symptoms: ASYNC_NETWORK_IO waits, application-side latency despite fast queries.
Quick checks: dm_exec_sessions — check reads/writes vs elapsed time.
Causes: fetching large result sets, client-side slow row processing.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5352" y="4626864"/>
            <a:ext cx="347472" cy="135331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48272" y="4700016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  <a:latin typeface="Calibri"/>
              </a:rPr>
              <a:t>Query Design Bottleneck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48272" y="5065776"/>
            <a:ext cx="5074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Symptoms: high logical reads, Table Scan operators in execution plan.
Quick checks: dm_exec_query_stats ORDER BY total_logical_reads DESC.
Causes: missing covering indexes, SELECT *, outdated statistics.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10: Basic Troubleshooting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85800"/>
            <a:ext cx="1828800" cy="457200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LAB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984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Monday Morning — 3 Support Tickets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385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3A6"/>
                </a:solidFill>
                <a:latin typeface="Calibri"/>
              </a:rPr>
              <a:t>Duration: ~40 min  ·  Tool: SSMS + Configuration Manager  ·  Instance: local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395728"/>
            <a:ext cx="347472" cy="1078992"/>
          </a:xfrm>
          <a:prstGeom prst="rect">
            <a:avLst/>
          </a:prstGeom>
          <a:solidFill>
            <a:srgbClr val="E052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468880"/>
            <a:ext cx="10744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Ticket 1: 'Cannot connect to SQL Server'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816352"/>
            <a:ext cx="10744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3A6"/>
                </a:solidFill>
                <a:latin typeface="Calibri"/>
              </a:rPr>
              <a:t>Simulate: stop SQL Server Browser service → attempt named instance connection
Diagnose: check service status in Config Manager
Resolve: restart SQL Server Browser → reconnect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657600"/>
            <a:ext cx="347472" cy="10789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730752"/>
            <a:ext cx="10744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Ticket 2: 'Login failed for user LabSari'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078224"/>
            <a:ext cx="10744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3A6"/>
                </a:solidFill>
                <a:latin typeface="Calibri"/>
              </a:rPr>
              <a:t>Simulate: disable login LabSari (ALTER LOGIN LabSari DISABLE)
Diagnose: read Error Log → identify state number
Resolve: ALTER LOGIN LabSari ENABLE → verify login works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919472"/>
            <a:ext cx="347472" cy="107899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992624"/>
            <a:ext cx="10744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Ticket 3: 'The report query is very slow today'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5340096"/>
            <a:ext cx="10744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3A6"/>
                </a:solidFill>
                <a:latin typeface="Calibri"/>
              </a:rPr>
              <a:t>Simulate: run SELECT * FROM Employee without WHERE clause (large result)
Diagnose: Activity Monitor → Recent Expensive Queries → view execution plan
Resolve: add WHERE clause or proper filter → compare elapsed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44768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A93A6"/>
                </a:solidFill>
                <a:latin typeface="Calibri"/>
              </a:rPr>
              <a:t>Validation: all 3 tickets resolved, root cause identified, and steps documented in a comment block in SSMS.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10: Basic Troubleshooting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7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