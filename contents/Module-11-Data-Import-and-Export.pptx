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2011680" cy="47548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MODULE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Data Import &amp; Export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1A366"/>
                </a:solidFill>
                <a:latin typeface="Calibri"/>
              </a:rPr>
              <a:t>Move data in and out of SQL Server using the Import/Export Wizard,
BULK INSERT, BCP, and basic ETL concepts.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526280"/>
            <a:ext cx="3154680" cy="5303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Import/Export Wizard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4526280"/>
            <a:ext cx="3154680" cy="5303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BULK INSERT / BCP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4526280"/>
            <a:ext cx="3154680" cy="5303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ETL Concepts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44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Day 2  ·  Afternoon  ·  1 hour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11: Data Import &amp; 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A93A6"/>
                </a:solidFill>
                <a:latin typeface="Calibri"/>
              </a:rPr>
              <a:t>By the end of Module 11 you will be able to: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47472" cy="3474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572768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Use the SSMS Import/Export Wizard to import a CSV file into a 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05456"/>
            <a:ext cx="347472" cy="34747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432304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Import data from a flat file using BULK INSERT with format options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64992"/>
            <a:ext cx="347472" cy="34747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9184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Export a SQL Server table to Excel using the Export Wizard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24528"/>
            <a:ext cx="347472" cy="34747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151376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Use the BCP utility from the command line to import and export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84064"/>
            <a:ext cx="347472" cy="3474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5010912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Explain the Extract, Transform, Load (ETL) pattern and where SSIS 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11: Data Import &amp; Export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SQL Server Import/Export Wizard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A GUI-driven SSIS package generator — easiest path for one-off imports and exports.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81328"/>
            <a:ext cx="347472" cy="1325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1. Launch the Wizard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SSMS → right-click database → Tasks → Import Data  (or Export Data)
Or: Start menu → SQL Server Import and Export Wizard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481328"/>
            <a:ext cx="347472" cy="13258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48272" y="15544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2. Choose Data 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8272" y="1920240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For CSV import: select 'Flat File Source'
Browse to file → preview → set delimiter (comma, tab, semicolon)
Check 'Column names in first data row' if applicable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054096"/>
            <a:ext cx="347472" cy="132588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2724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3. Choose Destination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93008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Select 'SQL Server Native Client' (or OLE DB provider)
Specify server name, authentication, and target database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3054096"/>
            <a:ext cx="347472" cy="132588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8272" y="312724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4. Map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8272" y="3493008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Select destination table (existing or create new)
Review column mappings — check data types match source
Enable 'Enable identity insert' if loading rows with explicit IDs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626864"/>
            <a:ext cx="347472" cy="132588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700016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5. Run or Save as SSIS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65776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Run immediately — or save as .dtsx SSIS package for reuse
Review execution results — note rows transferred and any errors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4626864"/>
            <a:ext cx="347472" cy="1325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48272" y="4700016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6. Validate the Import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5065776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SELECT COUNT(*) FROM &lt;table&gt;  — row count matches source file?
SELECT TOP 5 * FROM &lt;table&gt;  — spot-check data 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11: Data Import &amp; Export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BULK INSERT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BULK INSERT loads a flat file directly into a table — faster than INSERT row by row and fully scriptable.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5989320" cy="5074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499616"/>
            <a:ext cx="5660136" cy="4855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-- Create staging table for product import
CREATE TABLE dbo.ProductImport (
  ProductCode  VARCHAR(20),
  ProductName  NVARCHAR(100),
  Category     NVARCHAR(50),
  UnitPrice    DECIMAL(10,2),
  StockQty     INT
);
-- Load CSV file (comma-delimited, header row)
BULK INSERT dbo.ProductImport
FROM 'C:\Data\products.csv'
WITH (
  FIRSTROW = 2,          -- skip header row
  FIELDTERMINATOR = ',', -- comma delimiter
  ROWTERMINATOR = '\n', -- newline row separator
  TABLOCK                -- table-level lock for speed
);
-- Verify
SELECT COUNT(*) AS LoadedRows FROM dbo.ProductImport;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389888"/>
            <a:ext cx="347472" cy="47548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142646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FIRSTROW =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66420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Skip the header row — FIRSTROW = 1 if no header.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2039112"/>
            <a:ext cx="347472" cy="47548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07568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FIELDTERMINATOR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3134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Match the delimiter in your CSV: ',' or '\t' or '|'.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2688336"/>
            <a:ext cx="347472" cy="47548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724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ROWTERMINATOR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96265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Usually '\n' (Unix) or '\r\n' (Windows CRLF).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3337560"/>
            <a:ext cx="347472" cy="47548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337413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TABLOCK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61188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Acquires table lock — improves bulk load throughput.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3986784"/>
            <a:ext cx="34747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0233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BATCHSIZE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26110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BATCHSIZE = 10000 commits every 10K rows — safer for large files.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4636008"/>
            <a:ext cx="347472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6725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ERRORFILE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1032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ERRORFILE = 'C:\errors.txt' — logs bad rows to a file.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5285232"/>
            <a:ext cx="347472" cy="47548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53218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Permissions required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55595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Requires INSERT on table + ADMINISTER BULK OPERATIONS server permission.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11: Data Import &amp; 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BCP — Bulk Copy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BCP is a command-line tool for high-speed import and export between SQL Server and flat files.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5989320" cy="5074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499616"/>
            <a:ext cx="5660136" cy="4855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-- Export a table to CSV
bcp NovaMart.dbo.Employee out C:\Data\employees.csv
  -S localhost -T -c -t,
-- Import from CSV into a table
bcp NovaMart.dbo.ProductImport in C:\Data\products.csv
  -S localhost -T -c -t, -F 2
-- Export a query result
bcp "SELECT * FROM NovaMart.dbo.Employee WHERE DeptID = 1"
  queryout C:\Data\dept1.csv
  -S localhost -T -c -t,
-- Key switches:
-- -S  server name
-- -T  Windows trusted connection  (-U login -P password for SQL auth)
-- -c  character mode (text)
-- -t  field delimiter
-- -F  first row (skip header)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389888"/>
            <a:ext cx="347472" cy="47548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142646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out / in / queryout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66420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out = export table, in = import, queryout = export query result.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2039112"/>
            <a:ext cx="347472" cy="47548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07568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-T (trusted)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3134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Uses Windows auth; replace with -U &lt;user&gt; -P &lt;pass&gt; for SQL auth.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2688336"/>
            <a:ext cx="347472" cy="47548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724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-c character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96265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Most compatible — outputs plain text. Use -n for native binary.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3337560"/>
            <a:ext cx="347472" cy="47548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337413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-t field delimiter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61188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Matches BULK INSERT FIELDTERMINATOR — keep them consistent.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3986784"/>
            <a:ext cx="34747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0233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-F first 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26110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-F 2 skips the header line in the input file.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4636008"/>
            <a:ext cx="347472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6725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Format 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1032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bcp ... format nul -c -f schema.fmt — reusable column mapping.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5285232"/>
            <a:ext cx="347472" cy="47548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53218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BCP vs BULK INSERT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55595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BCP = command prompt, no SQL context. BULK INSERT = T-SQL, more control.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11: Data Import &amp; 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ETL Concepts &amp; SSIS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ETL (Extract, Transform, Load) is the pattern behind every serious data integration workflow.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63040"/>
            <a:ext cx="3639312" cy="34290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72768"/>
            <a:ext cx="3639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EXTRACT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21408"/>
            <a:ext cx="32918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Read data from source systems.
Sources: CSV files, Excel sheets, other SQL Server databases,
REST APIs, ERP systems.
Key concern: minimal impact on source during extraction.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5112" y="1463040"/>
            <a:ext cx="3639312" cy="342900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572768"/>
            <a:ext cx="3639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TRANSFORM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121408"/>
            <a:ext cx="32918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Clean, validate, and reshape data.
Examples: convert date formats, standardise codes,
split full name into first/last, filter invalid rows,
apply lookup tables (e.g. DeptCode → DeptID).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38744" y="1463040"/>
            <a:ext cx="3639312" cy="342900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38744" y="1572768"/>
            <a:ext cx="36393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121408"/>
            <a:ext cx="32918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Write transformed data to the destination.
Strategies: full replace (truncate + load), incremental
(insert new rows only), upsert (MERGE statement).
Key concern: performance, locks, and rollback safety.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956048"/>
            <a:ext cx="11384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D1B3E"/>
                </a:solidFill>
                <a:latin typeface="Calibri"/>
              </a:rPr>
              <a:t>SSIS (SQL Server Integration Services) — Visual Studio-based tool to build ETL packages with drag-and-drop data flows.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376672"/>
            <a:ext cx="11384280" cy="1024128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5486400"/>
            <a:ext cx="1105509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8D8FF"/>
                </a:solidFill>
                <a:latin typeface="Consolas"/>
              </a:rPr>
              <a:t>MERGE dbo.Product AS target
USING dbo.ProductImport AS source ON target.ProductCode = source.ProductCode
WHEN MATCHED THEN UPDATE SET target.UnitPrice = source.UnitPrice
WHEN NOT MATCHED THEN INSERT (ProductCode, ProductName, UnitPrice)
  VALUES (source.ProductCode, source.ProductName, source.UnitPrice);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11: Data Import &amp;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828800" cy="45720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LAB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Migrate NovaMart's Legacy Product Catalog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385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6"/>
                </a:solidFill>
                <a:latin typeface="Calibri"/>
              </a:rPr>
              <a:t>Duration: ~40 min  ·  Tool: SSMS + Import Wizard  ·  Database: NovaMart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95728"/>
            <a:ext cx="7040880" cy="3730752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A366"/>
                </a:solidFill>
                <a:latin typeface="Calibri"/>
              </a:rPr>
              <a:t>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52928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712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Create products.csv on disk with columns: ProductCode, ProductName, Category, UnitPrice, StockQty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82696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00984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26440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Add 5-10 sample product rows (e.g. NM-001, Running Shoes, Footwear, 299000, 50)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12464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30752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94176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Create staging table: CREATE TABLE dbo.ProductImport (...) in NovaMart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42232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6052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123944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Use SSMS Import Wizard (Tasks → Import Data) to load products.csv into ProductImport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572000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90288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553712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Validate: SELECT COUNT(*) — confirms row count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01768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2005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98348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Use BULK INSERT to reload the same file into ProductImport (truncate first)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431536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449824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4132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Export Employee table to CSV: Tasks → Export Data → Flat File destination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61304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879592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843016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Bonus: write a MERGE statement to upsert ProductImport into a Product table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18120" y="2395728"/>
            <a:ext cx="3913632" cy="3730752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2487168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A366"/>
                </a:solidFill>
                <a:latin typeface="Calibri"/>
              </a:rPr>
              <a:t>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285292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products.csv file created on disk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49300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Wizard import completes — row count matches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13308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BULK INSERT reloads without error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477316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Employee export CSV file created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541324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Bonus: MERGE runs without conflicts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11: Data Import &amp; Export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11480"/>
            <a:ext cx="121889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Course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78992"/>
            <a:ext cx="1218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8501A"/>
                </a:solidFill>
                <a:latin typeface="Calibri"/>
              </a:rPr>
              <a:t>NovaMart is now running — backed up, monitored, secured, and optimised.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508760"/>
            <a:ext cx="256032" cy="77724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544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Install &amp; Configure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8928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SQL Server installed, TCP/IP enabled, services configured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508760"/>
            <a:ext cx="256032" cy="7772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Database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8928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NovaMart created with correct files, filegroups, and recovery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441448"/>
            <a:ext cx="256032" cy="77724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48716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Tables &amp;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825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Department and Employee tables with constraints, CRUD operations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2441448"/>
            <a:ext cx="256032" cy="77724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248716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825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SQL logins, database users, roles, GRANT/DENY/REVOKE tested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74136"/>
            <a:ext cx="256032" cy="77724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41985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Backup &amp; Restore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37581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Full + Diff + Log backups, disaster recovery simulation completed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3374136"/>
            <a:ext cx="256032" cy="7772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41985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7581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Index rebuild, statistics update, DBCC CHECKDB — all green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306824"/>
            <a:ext cx="256032" cy="77724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435254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Automation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" y="46908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Nightly backup job scheduled and tested in SQL Server 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5352" y="4306824"/>
            <a:ext cx="256032" cy="77724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435254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Monitoring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6908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Activity Monitor, DMVs, blocking chain identified and resolved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239512"/>
            <a:ext cx="256032" cy="77724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528523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Troubleshooting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562356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Connection errors, login failures, slow queries diagnosed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5239512"/>
            <a:ext cx="256032" cy="77724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528523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Import / Export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62356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CSV imported via Wizard and BULK INSERT, table exported to CSV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0" y="635508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A93A6"/>
                </a:solidFill>
                <a:latin typeface="Calibri"/>
              </a:rPr>
              <a:t>Thank you — questions welcome. Lab guide and slide deck available on the course portal.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11: Data Import &amp; Export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