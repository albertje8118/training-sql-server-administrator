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Data Import &amp;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A366"/>
                </a:solidFill>
                <a:latin typeface="Calibri"/>
              </a:rPr>
              <a:t>Move data in and out of SQL Server using the Import/Export Wizard,
BULK INSERT, BCP, and basic ETL concepts.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Import/Export Wizard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BULK INSERT / BCP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ETL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Afternoon  ·  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11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Use the SSMS Import/Export Wizard to import a CSV file into a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Import data from a flat file using BULK INSERT with format 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Export a SQL Server table to Excel using the Export Wizard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Use the BCP utility from the command line to import and export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the Extract, Transform, Load (ETL) pattern and where SSIS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SQL Server Import/Export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 GUI-driven SSIS package generator — easiest path for one-off imports and exports.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1. Launch the Wizard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SSMS → right-click database → Tasks → Import Data  (or Export Data)
Or: Start menu → SQL Server Import and Export Wizard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347472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2. Choose 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9202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For CSV import: select 'Flat File Source'
Browse to file → preview → set delimiter (comma, tab, semicolon)
Check 'Column names in first data row' if applicable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54096"/>
            <a:ext cx="347472" cy="132588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3. Choose Destination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Select 'SQL Server Native Client' (or OLE DB provider)
Specify server name, authentication, and target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54096"/>
            <a:ext cx="347472" cy="13258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4. Map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9300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Select destination table (existing or create new)
Review column mappings — check data types match source
Enable 'Enable identity insert' if loading rows with explicit 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26864"/>
            <a:ext cx="347472" cy="13258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5. Run or Save as SSIS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Run immediately — or save as .dtsx SSIS package for reuse
Review execution results — note rows transferred and any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4626864"/>
            <a:ext cx="34747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7000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6. Validate the 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506577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SELECT COUNT(*) FROM &lt;table&gt;  — row count matches source file?
SELECT TOP 5 * FROM &lt;table&gt;  — spot-check 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BULK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BULK INSERT loads a flat file directly into a table — faster than INSERT row by row and fully scriptable.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Create staging table for product import
CREATE TABLE dbo.ProductImport (
  ProductCode  VARCHAR(20),
  ProductName  NVARCHAR(100),
  Category     NVARCHAR(50),
  UnitPrice    DECIMAL(10,2),
  StockQty     INT
);
-- Load CSV file (comma-delimited, header row)
BULK INSERT dbo.ProductImport
FROM 'C:\Data\products.csv'
WITH (
  FIRSTROW = 2,          -- skip header row
  FIELDTERMINATOR = ',', -- comma delimiter
  ROWTERMINATOR = '\n', -- newline row separator
  TABLOCK                -- table-level lock for speed
);
-- Verify
SELECT COUNT(*) AS LoadedRows FROM dbo.ProductImport;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FIRSTROW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Skip the header row — FIRSTROW = 1 if no header.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FIELDTERMINATOR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Match the delimiter in your CSV: ',' or '\t' or '|'.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ROWTERMINATOR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Usually '\n' (Unix) or '\r\n' (Windows CRLF).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TABLOCK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Acquires table lock — improves bulk load throughput.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BATCHSIZE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BATCHSIZE = 10000 commits every 10K rows — safer for large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ERRORFILE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ERRORFILE = 'C:\errors.txt' — logs bad rows to a file.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Permissions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Requires INSERT on table + ADMINISTER BULK OPERATIONS server permission.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BCP — Bulk Copy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BCP is a command-line tool for high-speed import and export between SQL Server and flat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Export a table to CSV
bcp NovaMart.dbo.Employee out C:\Data\employees.csv
  -S localhost -T -c -t,
-- Import from CSV into a table
bcp NovaMart.dbo.ProductImport in C:\Data\products.csv
  -S localhost -T -c -t, -F 2
-- Export a query result
bcp "SELECT * FROM NovaMart.dbo.Employee WHERE DeptID = 1"
  queryout C:\Data\dept1.csv
  -S localhost -T -c -t,
-- Key switches:
-- -S  server name
-- -T  Windows trusted connection  (-U login -P password for SQL auth)
-- -c  character mode (text)
-- -t  field delimiter
-- -F  first row (skip header)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89888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264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out / in / queryout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642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out = export table, in = import, queryout = export query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39112"/>
            <a:ext cx="347472" cy="47548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-T (trusted)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13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Uses Windows auth; replace with -U &lt;user&gt; -P &lt;pass&gt; for SQL auth.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688336"/>
            <a:ext cx="347472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-c character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9626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Most compatible — outputs plain text. Use -n for native binary.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347472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-t field delimiter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11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Matches BULK INSERT FIELDTERMINATOR — keep them consistent.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986784"/>
            <a:ext cx="34747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-F first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-F 2 skips the header line in the input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636008"/>
            <a:ext cx="347472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725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Format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10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bcp ... format nul -c -f schema.fmt — reusable column mapping.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347472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BCP vs BULK INSERT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59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BCP = command prompt, no SQL context. BULK INSERT = T-SQL, more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ETL Concepts &amp; SSIS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ETL (Extract, Transform, Load) is the pattern behind every serious data integration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3639312" cy="4160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Read data from source systems.
Sources: CSV files, Excel sheets, other SQL Server databases,
REST APIs, ERP systems.
Key concern: minimal impact on source during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463040"/>
            <a:ext cx="3639312" cy="416052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21408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Clean, validate, and reshape data.
Examples: convert date formats, standardise codes,
split full name into first/last, filter invalid rows,
apply lookup tables (e.g. DeptCode → DeptID).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463040"/>
            <a:ext cx="3639312" cy="416052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572768"/>
            <a:ext cx="3639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121408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transformed data to the destination.
Strategies: full replace (truncate + load), incremental
(insert new rows only), upsert (MERGE statement).
Key concern: performance, locks, and rollback safety.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742432"/>
            <a:ext cx="11384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SSIS (SQL Server Integration Services) — Visual Studio-based tool to build ETL packages with drag-and-drop data 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44768"/>
            <a:ext cx="11384280" cy="5669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6254496"/>
            <a:ext cx="11055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nsolas"/>
              </a:rPr>
              <a:t>MERGE dbo.Product AS target
USING dbo.ProductImport AS source ON target.ProductCode = source.ProductCode
WHEN MATCHED THEN UPDATE SET target.UnitPrice = source.UnitPrice
WHEN NOT MATCHED THEN INSERT (ProductCode, ProductName, UnitPrice)
  VALUES (source.ProductCode, source.ProductName, source.UnitPrice);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Migrate NovaMart's Legacy Product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~40 min  ·  Tool: SSMS + Import Wizard  ·  Database: NovaMart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products.csv on disk with columns: ProductCode, ProductName, Category, UnitPrice, StockQty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6440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Add 5-10 sample product rows (e.g. NM-001, Running Shoes, Footwear, 299000, 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9417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staging table: CREATE TABLE dbo.ProductImport (...) in NovaMart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42232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23944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Use SSMS Import Wizard (Tasks → Import Data) to load products.csv into ProductImport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53712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Validate: SELECT COUNT(*) — confirms row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0176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00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8348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Use BULK INSERT to reload the same file into ProductImport (truncate first)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31536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982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132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Export Employee table to CSV: Tasks → Export Data → Flat File destination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61304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795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4301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Bonus: write a MERGE statement to upsert ProductImport into a Product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products.csv file created on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Wizard import completes — row count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BULK INSERT reloads without error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Employee export CSV file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Bonus: MERGE runs without conflicts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114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Course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7899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501A"/>
                </a:solidFill>
                <a:latin typeface="Calibri"/>
              </a:rPr>
              <a:t>NovaMart is now running — backed up, monitored, secured, and optimised.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256032" cy="7772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Install &amp;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92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SQL Server installed, TCP/IP enabled, services configured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08760"/>
            <a:ext cx="25603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Database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92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NovaMart created with correct files, filegroups, and recovery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41448"/>
            <a:ext cx="256032" cy="77724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487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Tables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Department and Employee tables with constraints, CRUD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2441448"/>
            <a:ext cx="256032" cy="7772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871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25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SQL logins, database users, roles, GRANT/DENY/REVOKE tested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74136"/>
            <a:ext cx="256032" cy="7772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198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Backup &amp; 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758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Full + Diff + Log backups, disaster recovery simulation completed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3374136"/>
            <a:ext cx="25603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4198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58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Index rebuild, statistics update, DBCC CHECKDB — all green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306824"/>
            <a:ext cx="256032" cy="77724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3525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6908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Nightly backup job scheduled and tested in SQL Server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306824"/>
            <a:ext cx="256032" cy="77724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3525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6908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Activity Monitor, DMVs, blocking chain identified and resolved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39512"/>
            <a:ext cx="256032" cy="7772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2852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623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Connection errors, login failures, slow queries diagnosed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5239512"/>
            <a:ext cx="256032" cy="77724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2852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Import /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623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CSV imported via Wizard and BULK INSERT, table exported to 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35508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93A6"/>
                </a:solidFill>
                <a:latin typeface="Calibri"/>
              </a:rPr>
              <a:t>Thank you — questions welcome. Lab guide and slide deck available on the course portal.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11: Data Import &amp;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